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1092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1092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1092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1092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1092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140" y="236220"/>
            <a:ext cx="11729720" cy="63855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72110" y="377190"/>
            <a:ext cx="11450320" cy="6106160"/>
          </a:xfrm>
          <a:custGeom>
            <a:avLst/>
            <a:gdLst/>
            <a:ahLst/>
            <a:cxnLst/>
            <a:rect l="l" t="t" r="r" b="b"/>
            <a:pathLst>
              <a:path w="11450320" h="6106160">
                <a:moveTo>
                  <a:pt x="0" y="6106160"/>
                </a:moveTo>
                <a:lnTo>
                  <a:pt x="11450320" y="6106160"/>
                </a:lnTo>
                <a:lnTo>
                  <a:pt x="11450320" y="0"/>
                </a:lnTo>
                <a:lnTo>
                  <a:pt x="0" y="0"/>
                </a:lnTo>
                <a:lnTo>
                  <a:pt x="0" y="6106160"/>
                </a:lnTo>
                <a:close/>
              </a:path>
            </a:pathLst>
          </a:custGeom>
          <a:ln w="762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8654" y="394652"/>
            <a:ext cx="816483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1009" y="1475359"/>
            <a:ext cx="10534015" cy="2015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08485" y="6258448"/>
            <a:ext cx="23114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1092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03925" y="3286371"/>
            <a:ext cx="186690" cy="2806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54760" y="1214119"/>
            <a:ext cx="9682480" cy="4414520"/>
            <a:chOff x="1254760" y="1214119"/>
            <a:chExt cx="9682480" cy="44145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4760" y="1214119"/>
              <a:ext cx="9682480" cy="4414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5560" y="1264919"/>
              <a:ext cx="9580880" cy="43129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49070" y="1413509"/>
              <a:ext cx="9296400" cy="4033520"/>
            </a:xfrm>
            <a:custGeom>
              <a:avLst/>
              <a:gdLst/>
              <a:ahLst/>
              <a:cxnLst/>
              <a:rect l="l" t="t" r="r" b="b"/>
              <a:pathLst>
                <a:path w="9296400" h="4033520">
                  <a:moveTo>
                    <a:pt x="0" y="4033520"/>
                  </a:moveTo>
                  <a:lnTo>
                    <a:pt x="9296400" y="4033520"/>
                  </a:lnTo>
                  <a:lnTo>
                    <a:pt x="9296400" y="0"/>
                  </a:lnTo>
                  <a:lnTo>
                    <a:pt x="0" y="0"/>
                  </a:lnTo>
                  <a:lnTo>
                    <a:pt x="0" y="4033520"/>
                  </a:lnTo>
                  <a:close/>
                </a:path>
              </a:pathLst>
            </a:custGeom>
            <a:ln w="7620">
              <a:solidFill>
                <a:srgbClr val="BBD0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35880" y="1267459"/>
              <a:ext cx="1920239" cy="731520"/>
            </a:xfrm>
            <a:custGeom>
              <a:avLst/>
              <a:gdLst/>
              <a:ahLst/>
              <a:cxnLst/>
              <a:rect l="l" t="t" r="r" b="b"/>
              <a:pathLst>
                <a:path w="1920240" h="731519">
                  <a:moveTo>
                    <a:pt x="1920239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1920239" y="73152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51450" y="1268729"/>
              <a:ext cx="1691639" cy="645160"/>
            </a:xfrm>
            <a:custGeom>
              <a:avLst/>
              <a:gdLst/>
              <a:ahLst/>
              <a:cxnLst/>
              <a:rect l="l" t="t" r="r" b="b"/>
              <a:pathLst>
                <a:path w="1691640" h="645160">
                  <a:moveTo>
                    <a:pt x="0" y="0"/>
                  </a:moveTo>
                  <a:lnTo>
                    <a:pt x="0" y="640080"/>
                  </a:lnTo>
                </a:path>
                <a:path w="1691640" h="645160">
                  <a:moveTo>
                    <a:pt x="1691640" y="0"/>
                  </a:moveTo>
                  <a:lnTo>
                    <a:pt x="1691640" y="640080"/>
                  </a:lnTo>
                </a:path>
                <a:path w="1691640" h="645160">
                  <a:moveTo>
                    <a:pt x="0" y="645160"/>
                  </a:moveTo>
                  <a:lnTo>
                    <a:pt x="1691640" y="645160"/>
                  </a:lnTo>
                </a:path>
              </a:pathLst>
            </a:custGeom>
            <a:ln w="7620">
              <a:solidFill>
                <a:srgbClr val="D3EA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04541" y="1802701"/>
            <a:ext cx="65989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550" dirty="0"/>
              <a:t>INTRODUCTION</a:t>
            </a:r>
            <a:endParaRPr sz="7200"/>
          </a:p>
        </p:txBody>
      </p:sp>
      <p:sp>
        <p:nvSpPr>
          <p:cNvPr id="11" name="object 11"/>
          <p:cNvSpPr txBox="1"/>
          <p:nvPr/>
        </p:nvSpPr>
        <p:spPr>
          <a:xfrm>
            <a:off x="2144141" y="2712085"/>
            <a:ext cx="8400415" cy="203962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 marR="486410" indent="3361055">
              <a:lnSpc>
                <a:spcPts val="7180"/>
              </a:lnSpc>
              <a:spcBef>
                <a:spcPts val="1560"/>
              </a:spcBef>
            </a:pPr>
            <a:r>
              <a:rPr sz="7200" spc="-48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 </a:t>
            </a:r>
            <a:r>
              <a:rPr sz="7200" spc="-6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7200" spc="-7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72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0330" y="900366"/>
            <a:ext cx="28365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Overview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1145857" y="2017997"/>
            <a:ext cx="5941695" cy="196913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99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How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Beget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Understanding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Need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Own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Understanding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Dangers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Face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Obeying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Commandments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Process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05006" y="6259195"/>
            <a:ext cx="96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2</a:t>
            </a:r>
            <a:endParaRPr sz="1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181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Defining</a:t>
            </a:r>
            <a:r>
              <a:rPr spc="-345" dirty="0"/>
              <a:t> </a:t>
            </a:r>
            <a:r>
              <a:rPr spc="-10" dirty="0"/>
              <a:t>hacker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19430" y="1155537"/>
            <a:ext cx="10871200" cy="45129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68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word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has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two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meanings: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470535" lvl="1" indent="-183515">
              <a:lnSpc>
                <a:spcPct val="100000"/>
              </a:lnSpc>
              <a:spcBef>
                <a:spcPts val="520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16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Traditionally</a:t>
            </a:r>
            <a:endParaRPr sz="1600">
              <a:latin typeface="Tahoma" panose="020B0604030504040204"/>
              <a:cs typeface="Tahoma" panose="020B0604030504040204"/>
            </a:endParaRPr>
          </a:p>
          <a:p>
            <a:pPr marL="744220" marR="61595" lvl="2" indent="-182880">
              <a:lnSpc>
                <a:spcPct val="100000"/>
              </a:lnSpc>
              <a:spcBef>
                <a:spcPts val="480"/>
              </a:spcBef>
              <a:buClr>
                <a:srgbClr val="BBD0DF"/>
              </a:buClr>
              <a:buFont typeface="Arial MT"/>
              <a:buChar char="•"/>
              <a:tabLst>
                <a:tab pos="744220" algn="l"/>
              </a:tabLst>
            </a:pPr>
            <a:r>
              <a:rPr sz="1400" spc="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4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</a:t>
            </a:r>
            <a:r>
              <a:rPr sz="14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4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someone</a:t>
            </a:r>
            <a:r>
              <a:rPr sz="1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who</a:t>
            </a:r>
            <a:r>
              <a:rPr sz="14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likes</a:t>
            </a:r>
            <a:r>
              <a:rPr sz="14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4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tinker</a:t>
            </a:r>
            <a:r>
              <a:rPr sz="14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14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software</a:t>
            </a:r>
            <a:r>
              <a:rPr sz="1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electronic</a:t>
            </a:r>
            <a:r>
              <a:rPr sz="14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systems.</a:t>
            </a:r>
            <a:r>
              <a:rPr sz="1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14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enjoy</a:t>
            </a:r>
            <a:r>
              <a:rPr sz="1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exploring</a:t>
            </a:r>
            <a:r>
              <a:rPr sz="14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4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learning</a:t>
            </a:r>
            <a:r>
              <a:rPr sz="14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how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computer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operate.</a:t>
            </a:r>
            <a:r>
              <a:rPr sz="14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They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love</a:t>
            </a:r>
            <a:r>
              <a:rPr sz="1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discovering</a:t>
            </a:r>
            <a:r>
              <a:rPr sz="14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new</a:t>
            </a:r>
            <a:r>
              <a:rPr sz="1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ways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4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work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electronically.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20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Recently</a:t>
            </a:r>
            <a:endParaRPr sz="1600">
              <a:latin typeface="Tahoma" panose="020B0604030504040204"/>
              <a:cs typeface="Tahoma" panose="020B0604030504040204"/>
            </a:endParaRPr>
          </a:p>
          <a:p>
            <a:pPr marL="744220" marR="241935" lvl="2" indent="-182880">
              <a:lnSpc>
                <a:spcPct val="100000"/>
              </a:lnSpc>
              <a:spcBef>
                <a:spcPts val="485"/>
              </a:spcBef>
              <a:buClr>
                <a:srgbClr val="BBD0DF"/>
              </a:buClr>
              <a:buFont typeface="Arial MT"/>
              <a:buChar char="•"/>
              <a:tabLst>
                <a:tab pos="744220" algn="l"/>
              </a:tabLst>
            </a:pP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someone</a:t>
            </a:r>
            <a:r>
              <a:rPr sz="1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who</a:t>
            </a:r>
            <a:r>
              <a:rPr sz="14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maliciously</a:t>
            </a:r>
            <a:r>
              <a:rPr sz="14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breaks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into</a:t>
            </a:r>
            <a:r>
              <a:rPr sz="14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4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4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personal</a:t>
            </a:r>
            <a:r>
              <a:rPr sz="14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gain.</a:t>
            </a:r>
            <a:r>
              <a:rPr sz="14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Technically,</a:t>
            </a:r>
            <a:r>
              <a:rPr sz="14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these</a:t>
            </a:r>
            <a:r>
              <a:rPr sz="14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criminals</a:t>
            </a:r>
            <a:r>
              <a:rPr sz="14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crackers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(criminal 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hackers). </a:t>
            </a:r>
            <a:r>
              <a:rPr sz="1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Crackers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break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into</a:t>
            </a:r>
            <a:r>
              <a:rPr sz="14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(crack)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4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14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malicious</a:t>
            </a:r>
            <a:r>
              <a:rPr sz="14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intent.</a:t>
            </a:r>
            <a:r>
              <a:rPr sz="14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They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4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out</a:t>
            </a:r>
            <a:r>
              <a:rPr sz="14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personal</a:t>
            </a:r>
            <a:r>
              <a:rPr sz="1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gain:</a:t>
            </a:r>
            <a:r>
              <a:rPr sz="14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fame,</a:t>
            </a:r>
            <a:r>
              <a:rPr sz="14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profit,</a:t>
            </a:r>
            <a:r>
              <a:rPr sz="14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even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revenge.</a:t>
            </a:r>
            <a:r>
              <a:rPr sz="1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They</a:t>
            </a:r>
            <a:r>
              <a:rPr sz="1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modify,</a:t>
            </a:r>
            <a:r>
              <a:rPr sz="1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delete,</a:t>
            </a:r>
            <a:r>
              <a:rPr sz="14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steal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critical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information,</a:t>
            </a:r>
            <a:r>
              <a:rPr sz="14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often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making</a:t>
            </a:r>
            <a:r>
              <a:rPr sz="1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other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people</a:t>
            </a:r>
            <a:r>
              <a:rPr sz="1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miserable.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94945" marR="68580" indent="-182880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good-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guy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(white-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hat)</a:t>
            </a:r>
            <a:r>
              <a:rPr sz="1800" spc="-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don’t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like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being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same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category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bad-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guy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(black-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hat)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go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almost</a:t>
            </a:r>
            <a:r>
              <a:rPr sz="18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any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they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think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they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compromise.</a:t>
            </a:r>
            <a:r>
              <a:rPr sz="18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</a:t>
            </a:r>
            <a:r>
              <a:rPr sz="18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prefer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prestigious,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well-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protected</a:t>
            </a:r>
            <a:r>
              <a:rPr sz="1800" spc="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systems,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but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into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anyone’s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increases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their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status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circles.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Important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16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(or</a:t>
            </a:r>
            <a:r>
              <a:rPr sz="1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bad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guys)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try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compromise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computers.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16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1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(or</a:t>
            </a:r>
            <a:r>
              <a:rPr sz="16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good</a:t>
            </a:r>
            <a:r>
              <a:rPr sz="16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guys)</a:t>
            </a:r>
            <a:r>
              <a:rPr sz="16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protect</a:t>
            </a:r>
            <a:r>
              <a:rPr sz="16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computers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against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illicit</a:t>
            </a:r>
            <a:r>
              <a:rPr sz="16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entry.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05006" y="6259195"/>
            <a:ext cx="96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3</a:t>
            </a:r>
            <a:endParaRPr sz="1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229" y="394970"/>
            <a:ext cx="8782685" cy="12706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002155" marR="5080" indent="-1989455">
              <a:lnSpc>
                <a:spcPts val="4640"/>
              </a:lnSpc>
              <a:spcBef>
                <a:spcPts val="685"/>
              </a:spcBef>
            </a:pPr>
            <a:r>
              <a:rPr sz="4300" spc="-95" dirty="0"/>
              <a:t>Understanding</a:t>
            </a:r>
            <a:r>
              <a:rPr sz="4300" spc="-305" dirty="0"/>
              <a:t> </a:t>
            </a:r>
            <a:r>
              <a:rPr sz="4300" spc="-45" dirty="0"/>
              <a:t>the</a:t>
            </a:r>
            <a:r>
              <a:rPr sz="4300" spc="-330" dirty="0"/>
              <a:t> </a:t>
            </a:r>
            <a:r>
              <a:rPr sz="4300" spc="160" dirty="0"/>
              <a:t>Need</a:t>
            </a:r>
            <a:r>
              <a:rPr sz="4300" spc="-330" dirty="0"/>
              <a:t> </a:t>
            </a:r>
            <a:r>
              <a:rPr sz="4300" spc="-10" dirty="0"/>
              <a:t>to</a:t>
            </a:r>
            <a:r>
              <a:rPr sz="4300" spc="-330" dirty="0"/>
              <a:t> </a:t>
            </a:r>
            <a:r>
              <a:rPr sz="4300" spc="-20" dirty="0"/>
              <a:t>Hack </a:t>
            </a:r>
            <a:r>
              <a:rPr sz="4300" spc="-145" dirty="0"/>
              <a:t>Your</a:t>
            </a:r>
            <a:r>
              <a:rPr sz="4300" spc="-370" dirty="0"/>
              <a:t> </a:t>
            </a:r>
            <a:r>
              <a:rPr sz="4300" spc="95" dirty="0"/>
              <a:t>Own</a:t>
            </a:r>
            <a:r>
              <a:rPr sz="4300" spc="-305" dirty="0"/>
              <a:t> </a:t>
            </a:r>
            <a:r>
              <a:rPr sz="4300" spc="-355" dirty="0"/>
              <a:t>Systems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508634" y="1681098"/>
            <a:ext cx="11090910" cy="4279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349250" indent="-182880">
              <a:lnSpc>
                <a:spcPct val="100000"/>
              </a:lnSpc>
              <a:spcBef>
                <a:spcPts val="100"/>
              </a:spcBef>
              <a:buClr>
                <a:srgbClr val="BBD0DF"/>
              </a:buClr>
              <a:buFont typeface="Arial MT"/>
              <a:buChar char="•"/>
              <a:tabLst>
                <a:tab pos="195580" algn="l"/>
              </a:tabLst>
            </a:pP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the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increased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numbers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expanding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knowledge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combined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with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growing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number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other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unknowns,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time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will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come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when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all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computer 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hacked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compromised</a:t>
            </a:r>
            <a:r>
              <a:rPr sz="18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way.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Protecting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bad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guys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not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just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generic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everyone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5580">
              <a:lnSpc>
                <a:spcPct val="100000"/>
              </a:lnSpc>
              <a:spcBef>
                <a:spcPts val="5"/>
              </a:spcBef>
            </a:pP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knows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about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absolutely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critical.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258445" indent="-2457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258445" algn="l"/>
              </a:tabLst>
            </a:pPr>
            <a:r>
              <a:rPr sz="1800" spc="-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When</a:t>
            </a:r>
            <a:r>
              <a:rPr sz="1800" spc="-8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8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know</a:t>
            </a:r>
            <a:r>
              <a:rPr sz="1800" spc="-1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hacker</a:t>
            </a:r>
            <a:r>
              <a:rPr sz="18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2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tricks,</a:t>
            </a:r>
            <a:r>
              <a:rPr sz="18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8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9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can</a:t>
            </a:r>
            <a:r>
              <a:rPr sz="18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see</a:t>
            </a:r>
            <a:r>
              <a:rPr sz="1800" spc="-10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how</a:t>
            </a:r>
            <a:r>
              <a:rPr sz="1800" spc="-114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vulnerable</a:t>
            </a:r>
            <a:r>
              <a:rPr sz="1800" spc="-13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4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800" spc="-1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are.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preys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weak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security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practices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undisclosed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5580" marR="5080" indent="-182880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5580" algn="l"/>
              </a:tabLst>
            </a:pP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Firewalls,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encryption,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virtual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private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networks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(VPNs)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create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false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feeling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safety.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These 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security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often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focus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high-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level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vulnerabilities,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such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viruses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traffic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through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firewall,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without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affecting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how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work.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Attacking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own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discover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step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making</a:t>
            </a:r>
            <a:r>
              <a:rPr sz="18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them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more</a:t>
            </a:r>
            <a:r>
              <a:rPr sz="18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secure.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This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5580">
              <a:lnSpc>
                <a:spcPct val="100000"/>
              </a:lnSpc>
            </a:pP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only</a:t>
            </a:r>
            <a:r>
              <a:rPr sz="18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proven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method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greatly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hardening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systems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2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If</a:t>
            </a:r>
            <a:r>
              <a:rPr sz="1800" spc="-14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800" spc="-12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don’t</a:t>
            </a:r>
            <a:r>
              <a:rPr sz="1800" spc="-1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identify</a:t>
            </a:r>
            <a:r>
              <a:rPr sz="1800" spc="-6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weaknesses,</a:t>
            </a:r>
            <a:r>
              <a:rPr sz="1800" spc="-4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it’s</a:t>
            </a:r>
            <a:r>
              <a:rPr sz="1800" spc="-7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1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matter</a:t>
            </a:r>
            <a:r>
              <a:rPr sz="1800" spc="-7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800" spc="-1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time</a:t>
            </a:r>
            <a:r>
              <a:rPr sz="18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before</a:t>
            </a:r>
            <a:r>
              <a:rPr sz="1800" spc="-8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1800" spc="-6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800" spc="-10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exploited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05006" y="6259195"/>
            <a:ext cx="96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5</a:t>
            </a:r>
            <a:endParaRPr sz="1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390" y="298322"/>
            <a:ext cx="10996295" cy="300164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0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24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24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expand</a:t>
            </a:r>
            <a:r>
              <a:rPr sz="24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their</a:t>
            </a:r>
            <a:r>
              <a:rPr sz="24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knowledge,</a:t>
            </a:r>
            <a:r>
              <a:rPr sz="2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</a:t>
            </a:r>
            <a:r>
              <a:rPr sz="2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should</a:t>
            </a:r>
            <a:r>
              <a:rPr sz="24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you.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94310" indent="-181610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24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must</a:t>
            </a:r>
            <a:r>
              <a:rPr sz="24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think</a:t>
            </a:r>
            <a:r>
              <a:rPr sz="24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like</a:t>
            </a:r>
            <a:r>
              <a:rPr sz="2400" spc="-2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them</a:t>
            </a:r>
            <a:r>
              <a:rPr sz="24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4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protect</a:t>
            </a:r>
            <a:r>
              <a:rPr sz="24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24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24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24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them.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94310" indent="-181610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24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b="1" spc="-3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overall</a:t>
            </a:r>
            <a:r>
              <a:rPr sz="2400" b="1" spc="-4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goals</a:t>
            </a:r>
            <a:r>
              <a:rPr sz="2400" b="1" spc="-4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24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2400" spc="-1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24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</a:t>
            </a:r>
            <a:r>
              <a:rPr sz="2400" spc="-1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should</a:t>
            </a:r>
            <a:r>
              <a:rPr sz="2400" spc="-2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24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24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follows: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468630" lvl="1" indent="-182245">
              <a:lnSpc>
                <a:spcPct val="100000"/>
              </a:lnSpc>
              <a:spcBef>
                <a:spcPts val="520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2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Hack</a:t>
            </a:r>
            <a:r>
              <a:rPr sz="22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2200" spc="-14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6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2200" spc="-13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2200" spc="-204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7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200" spc="-12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nondestructive</a:t>
            </a:r>
            <a:r>
              <a:rPr sz="2200" spc="-1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fashion.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8630" lvl="1" indent="-182245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200" spc="-5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Enumerate</a:t>
            </a:r>
            <a:r>
              <a:rPr sz="2200" spc="-114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22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and,</a:t>
            </a:r>
            <a:r>
              <a:rPr sz="22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if</a:t>
            </a:r>
            <a:r>
              <a:rPr sz="22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7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necessary,</a:t>
            </a:r>
            <a:r>
              <a:rPr sz="2200" spc="-17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prove</a:t>
            </a:r>
            <a:r>
              <a:rPr sz="2200" spc="-1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2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upper</a:t>
            </a:r>
            <a:r>
              <a:rPr sz="2200" spc="-12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management</a:t>
            </a:r>
            <a:r>
              <a:rPr sz="2200" spc="-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that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9900">
              <a:lnSpc>
                <a:spcPct val="100000"/>
              </a:lnSpc>
            </a:pPr>
            <a:r>
              <a:rPr sz="2200" spc="-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2200" spc="-1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exist.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8630" lvl="1" indent="-182245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2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Apply</a:t>
            </a:r>
            <a:r>
              <a:rPr sz="2200" spc="-1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6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results</a:t>
            </a:r>
            <a:r>
              <a:rPr sz="2200" spc="-17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2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remove</a:t>
            </a:r>
            <a:r>
              <a:rPr sz="2200" spc="-15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2200" spc="-16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7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200" spc="-18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better</a:t>
            </a:r>
            <a:r>
              <a:rPr sz="2200" spc="-1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secure</a:t>
            </a:r>
            <a:r>
              <a:rPr sz="22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2200" spc="-14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systems.</a:t>
            </a:r>
            <a:endParaRPr sz="2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5642" y="394970"/>
            <a:ext cx="10808970" cy="12706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730115" marR="5080" indent="-4718050">
              <a:lnSpc>
                <a:spcPts val="4640"/>
              </a:lnSpc>
              <a:spcBef>
                <a:spcPts val="685"/>
              </a:spcBef>
            </a:pPr>
            <a:r>
              <a:rPr sz="4300" spc="-95" dirty="0"/>
              <a:t>Understanding</a:t>
            </a:r>
            <a:r>
              <a:rPr sz="4300" spc="-280" dirty="0"/>
              <a:t> </a:t>
            </a:r>
            <a:r>
              <a:rPr sz="4300" spc="-40" dirty="0"/>
              <a:t>the</a:t>
            </a:r>
            <a:r>
              <a:rPr sz="4300" spc="-295" dirty="0"/>
              <a:t> </a:t>
            </a:r>
            <a:r>
              <a:rPr sz="4300" spc="-85" dirty="0"/>
              <a:t>Dangers</a:t>
            </a:r>
            <a:r>
              <a:rPr sz="4300" spc="-335" dirty="0"/>
              <a:t> </a:t>
            </a:r>
            <a:r>
              <a:rPr sz="4300" spc="-145" dirty="0"/>
              <a:t>Your</a:t>
            </a:r>
            <a:r>
              <a:rPr sz="4300" spc="-370" dirty="0"/>
              <a:t> </a:t>
            </a:r>
            <a:r>
              <a:rPr sz="4300" spc="-360" dirty="0"/>
              <a:t>Systems </a:t>
            </a:r>
            <a:r>
              <a:rPr sz="4300" spc="150" dirty="0"/>
              <a:t>Face</a:t>
            </a:r>
            <a:endParaRPr sz="43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97522" y="1713749"/>
            <a:ext cx="10903585" cy="43249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660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Nontechnical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attacks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469265" lvl="1" indent="-182245">
              <a:lnSpc>
                <a:spcPct val="100000"/>
              </a:lnSpc>
              <a:spcBef>
                <a:spcPts val="520"/>
              </a:spcBef>
              <a:buClr>
                <a:srgbClr val="BBD0DF"/>
              </a:buClr>
              <a:buFont typeface="Arial MT"/>
              <a:buChar char="•"/>
              <a:tabLst>
                <a:tab pos="469265" algn="l"/>
              </a:tabLst>
            </a:pPr>
            <a:r>
              <a:rPr sz="22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Social-</a:t>
            </a:r>
            <a:r>
              <a:rPr sz="2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engineering</a:t>
            </a:r>
            <a:r>
              <a:rPr sz="22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exploits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742950" marR="5080" lvl="2" indent="-18161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744220" algn="l"/>
              </a:tabLst>
            </a:pP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Exploits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involve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b="1" spc="-4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manipulating</a:t>
            </a:r>
            <a:r>
              <a:rPr sz="20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people</a:t>
            </a:r>
            <a:r>
              <a:rPr sz="2000" b="1" spc="-2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end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users</a:t>
            </a:r>
            <a:r>
              <a:rPr sz="20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even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yourself</a:t>
            </a:r>
            <a:r>
              <a:rPr sz="2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20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20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greatest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vulnerability</a:t>
            </a:r>
            <a:r>
              <a:rPr sz="20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within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any</a:t>
            </a:r>
            <a:r>
              <a:rPr sz="2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computer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2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infrastructure.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42950" lvl="2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2950" algn="l"/>
              </a:tabLst>
            </a:pPr>
            <a:r>
              <a:rPr sz="2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Humans</a:t>
            </a:r>
            <a:r>
              <a:rPr sz="20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trusting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by</a:t>
            </a:r>
            <a:r>
              <a:rPr sz="20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nature.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42950" lvl="2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2950" algn="l"/>
              </a:tabLst>
            </a:pP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Defined</a:t>
            </a:r>
            <a:r>
              <a:rPr sz="20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20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exploitation</a:t>
            </a:r>
            <a:r>
              <a:rPr sz="20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0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trusting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nature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human</a:t>
            </a:r>
            <a:r>
              <a:rPr sz="2000" spc="-1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beings</a:t>
            </a:r>
            <a:r>
              <a:rPr sz="20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gain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44220">
              <a:lnSpc>
                <a:spcPct val="100000"/>
              </a:lnSpc>
            </a:pP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</a:t>
            </a:r>
            <a:r>
              <a:rPr sz="2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malicious</a:t>
            </a:r>
            <a:r>
              <a:rPr sz="20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purposes.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469265" lvl="1" indent="-182245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69265" algn="l"/>
              </a:tabLst>
            </a:pPr>
            <a:r>
              <a:rPr sz="22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Physical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Attacks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742950" lvl="2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2950" algn="l"/>
              </a:tabLst>
            </a:pP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20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break</a:t>
            </a:r>
            <a:r>
              <a:rPr sz="2000" b="1" spc="-6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0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into</a:t>
            </a:r>
            <a:r>
              <a:rPr sz="2000" b="1" spc="-4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6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buildings,</a:t>
            </a:r>
            <a:r>
              <a:rPr sz="2000" b="1" spc="-4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2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computer</a:t>
            </a:r>
            <a:r>
              <a:rPr sz="2000" b="1" spc="-6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7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rooms,</a:t>
            </a:r>
            <a:r>
              <a:rPr sz="2000" b="1" spc="-6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7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or</a:t>
            </a:r>
            <a:r>
              <a:rPr sz="2000" b="1" spc="-4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8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other</a:t>
            </a:r>
            <a:r>
              <a:rPr sz="2000" b="1" spc="-6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areas</a:t>
            </a:r>
            <a:r>
              <a:rPr sz="2000" b="1" spc="-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containing</a:t>
            </a:r>
            <a:r>
              <a:rPr sz="2000" b="1" spc="-4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critical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744220">
              <a:lnSpc>
                <a:spcPct val="100000"/>
              </a:lnSpc>
            </a:pPr>
            <a:r>
              <a:rPr sz="2000" b="1" spc="-9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sz="2000" b="1" spc="-6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8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or</a:t>
            </a:r>
            <a:r>
              <a:rPr sz="2000" b="1" spc="-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property.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742950" lvl="2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2950" algn="l"/>
              </a:tabLst>
            </a:pPr>
            <a:r>
              <a:rPr sz="20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includes</a:t>
            </a:r>
            <a:r>
              <a:rPr sz="20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dumpster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diving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(rummaging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through</a:t>
            </a:r>
            <a:r>
              <a:rPr sz="20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trash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cans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dumpsters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44220">
              <a:lnSpc>
                <a:spcPct val="100000"/>
              </a:lnSpc>
            </a:pPr>
            <a:r>
              <a:rPr sz="20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intellectual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property,</a:t>
            </a:r>
            <a:r>
              <a:rPr sz="20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passwords,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 </a:t>
            </a: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diagrams,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other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information).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615" y="340544"/>
            <a:ext cx="10820400" cy="422973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670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Network-infrastructure</a:t>
            </a:r>
            <a:r>
              <a:rPr sz="2400" spc="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attacks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469900" marR="137795" lvl="1" indent="-182880">
              <a:lnSpc>
                <a:spcPct val="100000"/>
              </a:lnSpc>
              <a:spcBef>
                <a:spcPts val="520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22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</a:t>
            </a:r>
            <a:r>
              <a:rPr sz="22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attacks</a:t>
            </a:r>
            <a:r>
              <a:rPr sz="22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against</a:t>
            </a:r>
            <a:r>
              <a:rPr sz="2200" spc="-1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</a:t>
            </a:r>
            <a:r>
              <a:rPr sz="22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infrastructures</a:t>
            </a:r>
            <a:r>
              <a:rPr sz="22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easy,</a:t>
            </a:r>
            <a:r>
              <a:rPr sz="22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because</a:t>
            </a:r>
            <a:r>
              <a:rPr sz="22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many </a:t>
            </a:r>
            <a:r>
              <a:rPr sz="22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networks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reached</a:t>
            </a:r>
            <a:r>
              <a:rPr sz="22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22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anywhere</a:t>
            </a:r>
            <a:r>
              <a:rPr sz="22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2200" spc="-2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world</a:t>
            </a:r>
            <a:r>
              <a:rPr sz="22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via</a:t>
            </a:r>
            <a:r>
              <a:rPr sz="2200" spc="-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Internet.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8630" lvl="1" indent="-182245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2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</a:t>
            </a:r>
            <a:r>
              <a:rPr sz="22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examples: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742315" marR="108585" lvl="2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3585" algn="l"/>
              </a:tabLst>
            </a:pP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Connecting</a:t>
            </a: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into</a:t>
            </a:r>
            <a:r>
              <a:rPr sz="20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through </a:t>
            </a:r>
            <a:r>
              <a:rPr sz="20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rogue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modem</a:t>
            </a:r>
            <a:r>
              <a:rPr sz="20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attached</a:t>
            </a:r>
            <a:r>
              <a:rPr sz="20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computer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behind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firewall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Exploiting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weaknesses</a:t>
            </a:r>
            <a:r>
              <a:rPr sz="2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</a:t>
            </a:r>
            <a:r>
              <a:rPr sz="2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transport</a:t>
            </a:r>
            <a:r>
              <a:rPr sz="20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mechanisms,</a:t>
            </a:r>
            <a:r>
              <a:rPr sz="20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such</a:t>
            </a:r>
            <a:r>
              <a:rPr sz="2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TCP/IP</a:t>
            </a:r>
            <a:r>
              <a:rPr sz="20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NetBIOS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42950" lvl="2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2950" algn="l"/>
              </a:tabLst>
            </a:pP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Flooding</a:t>
            </a:r>
            <a:r>
              <a:rPr sz="2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</a:t>
            </a:r>
            <a:r>
              <a:rPr sz="20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many</a:t>
            </a:r>
            <a:r>
              <a:rPr sz="20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requests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42315" marR="5080" lvl="2" indent="-18161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743585" algn="l"/>
              </a:tabLst>
            </a:pP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Creating</a:t>
            </a:r>
            <a:r>
              <a:rPr sz="20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denial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service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(DoS)</a:t>
            </a:r>
            <a:r>
              <a:rPr sz="20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legitimate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requests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Installing</a:t>
            </a:r>
            <a:r>
              <a:rPr sz="20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analyzer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2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 </a:t>
            </a:r>
            <a:r>
              <a:rPr sz="20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capturing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every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packet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travels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across</a:t>
            </a:r>
            <a:r>
              <a:rPr sz="2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it,</a:t>
            </a:r>
            <a:r>
              <a:rPr sz="20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revealing 	confidential</a:t>
            </a:r>
            <a:r>
              <a:rPr sz="20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</a:t>
            </a:r>
            <a:r>
              <a:rPr sz="20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20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clear</a:t>
            </a:r>
            <a:r>
              <a:rPr sz="20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text</a:t>
            </a:r>
            <a:r>
              <a:rPr sz="2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Piggybacking</a:t>
            </a:r>
            <a:r>
              <a:rPr sz="20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onto</a:t>
            </a:r>
            <a:r>
              <a:rPr sz="2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through</a:t>
            </a:r>
            <a:r>
              <a:rPr sz="20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20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insecure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802.11b</a:t>
            </a:r>
            <a:r>
              <a:rPr sz="2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wireless</a:t>
            </a:r>
            <a:r>
              <a:rPr sz="20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configuration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05006" y="6259195"/>
            <a:ext cx="96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8</a:t>
            </a:r>
            <a:endParaRPr sz="1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462" y="340544"/>
            <a:ext cx="11254740" cy="52768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670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Operating-</a:t>
            </a:r>
            <a:r>
              <a:rPr sz="24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</a:t>
            </a:r>
            <a:r>
              <a:rPr sz="2400" spc="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attacks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469265" lvl="1" indent="-182245">
              <a:lnSpc>
                <a:spcPct val="100000"/>
              </a:lnSpc>
              <a:spcBef>
                <a:spcPts val="520"/>
              </a:spcBef>
              <a:buClr>
                <a:srgbClr val="BBD0DF"/>
              </a:buClr>
              <a:buFont typeface="Arial MT"/>
              <a:buChar char="•"/>
              <a:tabLst>
                <a:tab pos="469265" algn="l"/>
              </a:tabLst>
            </a:pP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2200" spc="-2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operating</a:t>
            </a:r>
            <a:r>
              <a:rPr sz="22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(OSs)</a:t>
            </a:r>
            <a:r>
              <a:rPr sz="22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22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2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preferred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method</a:t>
            </a:r>
            <a:r>
              <a:rPr sz="22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2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bad</a:t>
            </a:r>
            <a:r>
              <a:rPr sz="22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guys.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22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OSs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comprise</a:t>
            </a:r>
            <a:r>
              <a:rPr sz="2200" spc="-2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large</a:t>
            </a:r>
            <a:r>
              <a:rPr sz="22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portion</a:t>
            </a:r>
            <a:r>
              <a:rPr sz="2200" spc="-2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attacks</a:t>
            </a:r>
            <a:r>
              <a:rPr sz="22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simply</a:t>
            </a:r>
            <a:r>
              <a:rPr sz="2200" spc="-1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because</a:t>
            </a:r>
            <a:r>
              <a:rPr sz="22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every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computer </a:t>
            </a:r>
            <a:r>
              <a:rPr sz="22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has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one</a:t>
            </a:r>
            <a:r>
              <a:rPr sz="22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2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many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well-</a:t>
            </a:r>
            <a:r>
              <a:rPr sz="22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known</a:t>
            </a:r>
            <a:r>
              <a:rPr sz="2200" spc="-2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exploits</a:t>
            </a:r>
            <a:r>
              <a:rPr sz="2200" spc="-2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22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used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against</a:t>
            </a:r>
            <a:r>
              <a:rPr sz="22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them.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9900" marR="350520" lvl="1" indent="-18288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Occasionally,</a:t>
            </a:r>
            <a:r>
              <a:rPr sz="2200" spc="-2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</a:t>
            </a:r>
            <a:r>
              <a:rPr sz="22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operating</a:t>
            </a:r>
            <a:r>
              <a:rPr sz="22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22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more</a:t>
            </a:r>
            <a:r>
              <a:rPr sz="22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secure</a:t>
            </a:r>
            <a:r>
              <a:rPr sz="22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out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2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2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box</a:t>
            </a:r>
            <a:r>
              <a:rPr sz="22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 </a:t>
            </a:r>
            <a:r>
              <a:rPr sz="22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such</a:t>
            </a:r>
            <a:r>
              <a:rPr sz="22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Novell</a:t>
            </a:r>
            <a:r>
              <a:rPr sz="22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NetWare</a:t>
            </a:r>
            <a:r>
              <a:rPr sz="22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flavors</a:t>
            </a:r>
            <a:r>
              <a:rPr sz="2200" spc="-1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2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5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BSD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UNIX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22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attacked,</a:t>
            </a:r>
            <a:r>
              <a:rPr sz="22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 </a:t>
            </a:r>
            <a:r>
              <a:rPr sz="22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turn</a:t>
            </a:r>
            <a:r>
              <a:rPr sz="22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up.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9265" lvl="1" indent="-182245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9265" algn="l"/>
              </a:tabLst>
            </a:pPr>
            <a:r>
              <a:rPr sz="22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But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</a:t>
            </a:r>
            <a:r>
              <a:rPr sz="22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prefer</a:t>
            </a:r>
            <a:r>
              <a:rPr sz="22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attacking</a:t>
            </a:r>
            <a:r>
              <a:rPr sz="2200" spc="-1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operating</a:t>
            </a:r>
            <a:r>
              <a:rPr sz="22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like</a:t>
            </a:r>
            <a:r>
              <a:rPr sz="22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Windows</a:t>
            </a:r>
            <a:r>
              <a:rPr sz="22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2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Linux</a:t>
            </a:r>
            <a:r>
              <a:rPr sz="22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because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2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they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22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widely</a:t>
            </a:r>
            <a:r>
              <a:rPr sz="2200" spc="-2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used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2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better</a:t>
            </a:r>
            <a:r>
              <a:rPr sz="22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known</a:t>
            </a:r>
            <a:r>
              <a:rPr sz="22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22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their</a:t>
            </a:r>
            <a:r>
              <a:rPr sz="2200" spc="-1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vulnerabilities.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9265" lvl="1" indent="-182245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9265" algn="l"/>
              </a:tabLst>
            </a:pPr>
            <a:r>
              <a:rPr sz="22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Here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22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examples</a:t>
            </a:r>
            <a:r>
              <a:rPr sz="22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attacks</a:t>
            </a:r>
            <a:r>
              <a:rPr sz="22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22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operating</a:t>
            </a:r>
            <a:r>
              <a:rPr sz="2200" spc="-1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systems: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742950" lvl="2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2950" algn="l"/>
              </a:tabLst>
            </a:pPr>
            <a:r>
              <a:rPr sz="20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Exploiting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specific</a:t>
            </a:r>
            <a:r>
              <a:rPr sz="2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protocol</a:t>
            </a:r>
            <a:r>
              <a:rPr sz="20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implementations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42950" lvl="2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2950" algn="l"/>
              </a:tabLst>
            </a:pP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Attacking</a:t>
            </a:r>
            <a:r>
              <a:rPr sz="20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built-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20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authentication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42950" lvl="2" indent="-18161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742950" algn="l"/>
              </a:tabLst>
            </a:pPr>
            <a:r>
              <a:rPr sz="20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Breaking</a:t>
            </a:r>
            <a:r>
              <a:rPr sz="20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file-</a:t>
            </a:r>
            <a:r>
              <a:rPr sz="20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</a:t>
            </a:r>
            <a:r>
              <a:rPr sz="20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security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742950" lvl="2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2950" algn="l"/>
              </a:tabLst>
            </a:pP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Cracking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passwords</a:t>
            </a:r>
            <a:r>
              <a:rPr sz="20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encryption</a:t>
            </a:r>
            <a:r>
              <a:rPr sz="20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mechanisms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05006" y="6258448"/>
            <a:ext cx="96520" cy="181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9</a:t>
            </a:r>
            <a:endParaRPr sz="1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6409" y="340544"/>
            <a:ext cx="11064875" cy="40798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670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Application</a:t>
            </a:r>
            <a:r>
              <a:rPr sz="24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other</a:t>
            </a:r>
            <a:r>
              <a:rPr sz="2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specialized</a:t>
            </a:r>
            <a:r>
              <a:rPr sz="24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attacks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469265" lvl="1" indent="-182245">
              <a:lnSpc>
                <a:spcPct val="100000"/>
              </a:lnSpc>
              <a:spcBef>
                <a:spcPts val="520"/>
              </a:spcBef>
              <a:buClr>
                <a:srgbClr val="BBD0DF"/>
              </a:buClr>
              <a:buFont typeface="Arial MT"/>
              <a:buChar char="•"/>
              <a:tabLst>
                <a:tab pos="469265" algn="l"/>
              </a:tabLst>
            </a:pP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Applications</a:t>
            </a:r>
            <a:r>
              <a:rPr sz="22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take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lot</a:t>
            </a:r>
            <a:r>
              <a:rPr sz="22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2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hits</a:t>
            </a:r>
            <a:r>
              <a:rPr sz="2200" spc="-1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by</a:t>
            </a:r>
            <a:r>
              <a:rPr sz="22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hackers.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469900" marR="800100" lvl="1" indent="-18288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22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Programs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such</a:t>
            </a:r>
            <a:r>
              <a:rPr sz="22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22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e-</a:t>
            </a:r>
            <a:r>
              <a:rPr sz="22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mail</a:t>
            </a:r>
            <a:r>
              <a:rPr sz="2200" spc="-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server</a:t>
            </a:r>
            <a:r>
              <a:rPr sz="22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software</a:t>
            </a:r>
            <a:r>
              <a:rPr sz="22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2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Web</a:t>
            </a:r>
            <a:r>
              <a:rPr sz="22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applications</a:t>
            </a:r>
            <a:r>
              <a:rPr sz="22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often</a:t>
            </a:r>
            <a:r>
              <a:rPr sz="22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 </a:t>
            </a:r>
            <a:r>
              <a:rPr sz="22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beaten</a:t>
            </a:r>
            <a:r>
              <a:rPr sz="22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down:</a:t>
            </a:r>
            <a:endParaRPr sz="2200">
              <a:latin typeface="Verdana" panose="020B0604030504040204"/>
              <a:cs typeface="Verdana" panose="020B0604030504040204"/>
            </a:endParaRPr>
          </a:p>
          <a:p>
            <a:pPr marL="744220" marR="5080" lvl="2" indent="-18288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744220" algn="l"/>
              </a:tabLst>
            </a:pPr>
            <a:r>
              <a:rPr sz="1800" b="1" spc="-7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Hypertext</a:t>
            </a:r>
            <a:r>
              <a:rPr sz="18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Transfer</a:t>
            </a:r>
            <a:r>
              <a:rPr sz="1800" b="1" spc="-4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Protocol </a:t>
            </a:r>
            <a:r>
              <a:rPr sz="1800" b="1" spc="-229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(HTTP)</a:t>
            </a:r>
            <a:r>
              <a:rPr sz="1800" b="1" spc="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and </a:t>
            </a:r>
            <a:r>
              <a:rPr sz="1800" b="1" spc="-6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Simple</a:t>
            </a:r>
            <a:r>
              <a:rPr sz="1800" b="1" spc="-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Mail</a:t>
            </a:r>
            <a:r>
              <a:rPr sz="1800" b="1" spc="1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Transfer</a:t>
            </a:r>
            <a:r>
              <a:rPr sz="1800" b="1" spc="-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Protocol</a:t>
            </a:r>
            <a:r>
              <a:rPr sz="1800" b="1" spc="-4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7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(SMTP</a:t>
            </a:r>
            <a:r>
              <a:rPr sz="18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)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applications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frequently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attacked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because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most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firewalls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other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security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mechanisms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configured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allow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full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access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these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programs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Internet.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743585" lvl="2" indent="-182245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3585" algn="l"/>
              </a:tabLst>
            </a:pPr>
            <a:r>
              <a:rPr sz="1800" b="1" spc="-2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Malicious</a:t>
            </a:r>
            <a:r>
              <a:rPr sz="1800" b="1" spc="-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9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software</a:t>
            </a:r>
            <a:r>
              <a:rPr sz="1800" b="1" spc="-2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(malware)</a:t>
            </a:r>
            <a:r>
              <a:rPr sz="1800" b="1" spc="2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includes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viruses,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worms,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Trojan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horses,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spyware.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Malware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74422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clogs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networks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takes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down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744220" marR="325755" lvl="2" indent="-18288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744220" algn="l"/>
              </a:tabLst>
            </a:pPr>
            <a:r>
              <a:rPr sz="18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Spam</a:t>
            </a:r>
            <a:r>
              <a:rPr sz="1800" b="1" spc="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(junk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e-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mail)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wreaking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havoc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availability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storage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space.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it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carry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malware.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468630" lvl="1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helps</a:t>
            </a:r>
            <a:r>
              <a:rPr sz="20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reveal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such</a:t>
            </a:r>
            <a:r>
              <a:rPr sz="20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attacks</a:t>
            </a: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against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computer</a:t>
            </a:r>
            <a:r>
              <a:rPr sz="20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systems.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33885" y="6258448"/>
            <a:ext cx="167640" cy="181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10</a:t>
            </a:r>
            <a:endParaRPr sz="1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870" y="394970"/>
            <a:ext cx="7597775" cy="12706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546860" marR="5080" indent="-1534795">
              <a:lnSpc>
                <a:spcPts val="4640"/>
              </a:lnSpc>
              <a:spcBef>
                <a:spcPts val="685"/>
              </a:spcBef>
            </a:pPr>
            <a:r>
              <a:rPr sz="4300" spc="45" dirty="0"/>
              <a:t>Obeying</a:t>
            </a:r>
            <a:r>
              <a:rPr sz="4300" spc="-300" dirty="0"/>
              <a:t> </a:t>
            </a:r>
            <a:r>
              <a:rPr sz="4300" spc="-45" dirty="0"/>
              <a:t>the</a:t>
            </a:r>
            <a:r>
              <a:rPr sz="4300" spc="-290" dirty="0"/>
              <a:t> </a:t>
            </a:r>
            <a:r>
              <a:rPr sz="4300" spc="-95" dirty="0"/>
              <a:t>Ethical</a:t>
            </a:r>
            <a:r>
              <a:rPr sz="4300" spc="-300" dirty="0"/>
              <a:t> </a:t>
            </a:r>
            <a:r>
              <a:rPr sz="4300" spc="-10" dirty="0"/>
              <a:t>Hacking Commandments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493077" y="1597989"/>
            <a:ext cx="11209020" cy="457517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465"/>
              </a:spcBef>
              <a:buClr>
                <a:srgbClr val="BBD0DF"/>
              </a:buClr>
              <a:buFont typeface="Arial MT"/>
              <a:buChar char="•"/>
              <a:tabLst>
                <a:tab pos="195580" algn="l"/>
              </a:tabLst>
            </a:pPr>
            <a:r>
              <a:rPr sz="17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Working</a:t>
            </a:r>
            <a:r>
              <a:rPr sz="17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ethically</a:t>
            </a:r>
            <a:endParaRPr sz="1700">
              <a:latin typeface="Verdana" panose="020B0604030504040204"/>
              <a:cs typeface="Verdana" panose="020B0604030504040204"/>
            </a:endParaRPr>
          </a:p>
          <a:p>
            <a:pPr marL="467995" lvl="1" indent="-181610">
              <a:lnSpc>
                <a:spcPct val="100000"/>
              </a:lnSpc>
              <a:spcBef>
                <a:spcPts val="325"/>
              </a:spcBef>
              <a:buClr>
                <a:srgbClr val="BBD0DF"/>
              </a:buClr>
              <a:buFont typeface="Arial MT"/>
              <a:buChar char="•"/>
              <a:tabLst>
                <a:tab pos="467995" algn="l"/>
              </a:tabLst>
            </a:pP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word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15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this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context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defined</a:t>
            </a:r>
            <a:r>
              <a:rPr sz="15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working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high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professional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morals</a:t>
            </a:r>
            <a:r>
              <a:rPr sz="15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principles.</a:t>
            </a:r>
            <a:endParaRPr sz="1500">
              <a:latin typeface="Verdana" panose="020B0604030504040204"/>
              <a:cs typeface="Verdana" panose="020B0604030504040204"/>
            </a:endParaRPr>
          </a:p>
          <a:p>
            <a:pPr marL="467995" marR="671830" lvl="1" indent="-181610">
              <a:lnSpc>
                <a:spcPts val="1620"/>
              </a:lnSpc>
              <a:spcBef>
                <a:spcPts val="525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Whether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you’re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performing</a:t>
            </a:r>
            <a:r>
              <a:rPr sz="15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15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tests</a:t>
            </a:r>
            <a:r>
              <a:rPr sz="15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against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own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someone</a:t>
            </a:r>
            <a:r>
              <a:rPr sz="15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who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has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hired</a:t>
            </a:r>
            <a:r>
              <a:rPr sz="15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you,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5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everything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hacker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must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aboveboard</a:t>
            </a:r>
            <a:r>
              <a:rPr sz="15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must</a:t>
            </a:r>
            <a:r>
              <a:rPr sz="1500" spc="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b="1" spc="-7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support</a:t>
            </a:r>
            <a:r>
              <a:rPr sz="1500" b="1" spc="2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-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500" b="1" spc="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company’s</a:t>
            </a:r>
            <a:r>
              <a:rPr sz="1500" b="1" spc="1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goals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.</a:t>
            </a:r>
            <a:endParaRPr sz="1500">
              <a:latin typeface="Verdana" panose="020B0604030504040204"/>
              <a:cs typeface="Verdana" panose="020B0604030504040204"/>
            </a:endParaRPr>
          </a:p>
          <a:p>
            <a:pPr marL="467995" lvl="1" indent="-181610">
              <a:lnSpc>
                <a:spcPct val="100000"/>
              </a:lnSpc>
              <a:spcBef>
                <a:spcPts val="295"/>
              </a:spcBef>
              <a:buClr>
                <a:srgbClr val="BBD0DF"/>
              </a:buClr>
              <a:buFont typeface="Arial MT"/>
              <a:buChar char="•"/>
              <a:tabLst>
                <a:tab pos="467995" algn="l"/>
              </a:tabLst>
            </a:pP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hidden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agendas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allowed!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b="1" spc="-114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Trustworthiness</a:t>
            </a:r>
            <a:r>
              <a:rPr sz="1500" b="1" spc="2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ultimate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tenet.</a:t>
            </a:r>
            <a:endParaRPr sz="1500">
              <a:latin typeface="Verdana" panose="020B0604030504040204"/>
              <a:cs typeface="Verdana" panose="020B0604030504040204"/>
            </a:endParaRPr>
          </a:p>
          <a:p>
            <a:pPr marL="467995" lvl="1" indent="-181610">
              <a:lnSpc>
                <a:spcPct val="100000"/>
              </a:lnSpc>
              <a:spcBef>
                <a:spcPts val="320"/>
              </a:spcBef>
              <a:buClr>
                <a:srgbClr val="BBD0DF"/>
              </a:buClr>
              <a:buFont typeface="Arial MT"/>
              <a:buChar char="•"/>
              <a:tabLst>
                <a:tab pos="467995" algn="l"/>
              </a:tabLst>
            </a:pP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misuse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5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absolutely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forbidden.</a:t>
            </a:r>
            <a:r>
              <a:rPr sz="15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That’s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what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bad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guys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do.</a:t>
            </a:r>
            <a:endParaRPr sz="1500">
              <a:latin typeface="Verdana" panose="020B0604030504040204"/>
              <a:cs typeface="Verdana" panose="020B0604030504040204"/>
            </a:endParaRP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BBD0DF"/>
              </a:buClr>
              <a:buFont typeface="Arial MT"/>
              <a:buChar char="•"/>
              <a:tabLst>
                <a:tab pos="195580" algn="l"/>
              </a:tabLst>
            </a:pPr>
            <a:r>
              <a:rPr sz="17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Respecting</a:t>
            </a:r>
            <a:r>
              <a:rPr sz="17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privacy</a:t>
            </a:r>
            <a:endParaRPr sz="1700">
              <a:latin typeface="Verdana" panose="020B0604030504040204"/>
              <a:cs typeface="Verdana" panose="020B0604030504040204"/>
            </a:endParaRPr>
          </a:p>
          <a:p>
            <a:pPr marL="467995" lvl="1" indent="-181610">
              <a:lnSpc>
                <a:spcPct val="100000"/>
              </a:lnSpc>
              <a:spcBef>
                <a:spcPts val="325"/>
              </a:spcBef>
              <a:buClr>
                <a:srgbClr val="BBD0DF"/>
              </a:buClr>
              <a:buFont typeface="Arial MT"/>
              <a:buChar char="•"/>
              <a:tabLst>
                <a:tab pos="467995" algn="l"/>
              </a:tabLst>
            </a:pP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Treat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5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gather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utmost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respect.</a:t>
            </a:r>
            <a:endParaRPr sz="1500">
              <a:latin typeface="Verdana" panose="020B0604030504040204"/>
              <a:cs typeface="Verdana" panose="020B0604030504040204"/>
            </a:endParaRPr>
          </a:p>
          <a:p>
            <a:pPr marL="467995" marR="312420" lvl="1" indent="-181610">
              <a:lnSpc>
                <a:spcPts val="1620"/>
              </a:lnSpc>
              <a:spcBef>
                <a:spcPts val="520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All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obtain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during</a:t>
            </a:r>
            <a:r>
              <a:rPr sz="15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testing</a:t>
            </a:r>
            <a:r>
              <a:rPr sz="15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Web-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application</a:t>
            </a:r>
            <a:r>
              <a:rPr sz="15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log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files</a:t>
            </a:r>
            <a:r>
              <a:rPr sz="15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clear-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text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passwords</a:t>
            </a:r>
            <a:r>
              <a:rPr sz="15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must</a:t>
            </a:r>
            <a:r>
              <a:rPr sz="15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 </a:t>
            </a:r>
            <a:r>
              <a:rPr sz="15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kept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private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.</a:t>
            </a:r>
            <a:endParaRPr sz="1500">
              <a:latin typeface="Verdana" panose="020B0604030504040204"/>
              <a:cs typeface="Verdana" panose="020B0604030504040204"/>
            </a:endParaRPr>
          </a:p>
          <a:p>
            <a:pPr marL="467995" marR="12065" lvl="1" indent="-181610">
              <a:lnSpc>
                <a:spcPts val="162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Don’t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use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this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snoop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into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confidential</a:t>
            </a:r>
            <a:r>
              <a:rPr sz="15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corporate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private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lives.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If</a:t>
            </a:r>
            <a:r>
              <a:rPr sz="15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sense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someone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should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know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b="1" spc="-5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there’s</a:t>
            </a:r>
            <a:r>
              <a:rPr sz="1500" b="1" spc="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9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500" b="1" spc="-1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-4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problem</a:t>
            </a:r>
            <a:r>
              <a:rPr sz="15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,</a:t>
            </a:r>
            <a:r>
              <a:rPr sz="15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consider</a:t>
            </a:r>
            <a:r>
              <a:rPr sz="15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b="1" spc="-6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sharing</a:t>
            </a:r>
            <a:r>
              <a:rPr sz="1500" b="1" spc="-1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-9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that</a:t>
            </a:r>
            <a:r>
              <a:rPr sz="15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-7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sz="15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-1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with</a:t>
            </a:r>
            <a:r>
              <a:rPr sz="1500" b="1" spc="1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-5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500" b="1" spc="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-2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appropriate</a:t>
            </a:r>
            <a:r>
              <a:rPr sz="1500" b="1" spc="-6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manager.</a:t>
            </a:r>
            <a:endParaRPr sz="1500">
              <a:latin typeface="Tahoma" panose="020B0604030504040204"/>
              <a:cs typeface="Tahoma" panose="020B0604030504040204"/>
            </a:endParaRPr>
          </a:p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BBD0DF"/>
              </a:buClr>
              <a:buFont typeface="Arial MT"/>
              <a:buChar char="•"/>
              <a:tabLst>
                <a:tab pos="195580" algn="l"/>
              </a:tabLst>
            </a:pPr>
            <a:r>
              <a:rPr sz="17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Not</a:t>
            </a:r>
            <a:r>
              <a:rPr sz="17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7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crashing</a:t>
            </a:r>
            <a:r>
              <a:rPr sz="17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7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7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endParaRPr sz="1700">
              <a:latin typeface="Verdana" panose="020B0604030504040204"/>
              <a:cs typeface="Verdana" panose="020B0604030504040204"/>
            </a:endParaRPr>
          </a:p>
          <a:p>
            <a:pPr marL="467995" lvl="1" indent="-181610">
              <a:lnSpc>
                <a:spcPct val="100000"/>
              </a:lnSpc>
              <a:spcBef>
                <a:spcPts val="325"/>
              </a:spcBef>
              <a:buClr>
                <a:srgbClr val="BBD0DF"/>
              </a:buClr>
              <a:buFont typeface="Arial MT"/>
              <a:buChar char="•"/>
              <a:tabLst>
                <a:tab pos="467995" algn="l"/>
              </a:tabLst>
            </a:pP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biggest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mistakes</a:t>
            </a:r>
            <a:r>
              <a:rPr sz="1500" spc="3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seen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when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people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try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</a:t>
            </a: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their</a:t>
            </a:r>
            <a:r>
              <a:rPr sz="15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own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500" spc="-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inadvertently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crashing</a:t>
            </a:r>
            <a:r>
              <a:rPr sz="15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their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systems.</a:t>
            </a:r>
            <a:endParaRPr sz="1500">
              <a:latin typeface="Verdana" panose="020B0604030504040204"/>
              <a:cs typeface="Verdana" panose="020B0604030504040204"/>
            </a:endParaRPr>
          </a:p>
          <a:p>
            <a:pPr marL="467995" lvl="1" indent="-181610">
              <a:lnSpc>
                <a:spcPct val="100000"/>
              </a:lnSpc>
              <a:spcBef>
                <a:spcPts val="320"/>
              </a:spcBef>
              <a:buClr>
                <a:srgbClr val="BBD0DF"/>
              </a:buClr>
              <a:buFont typeface="Arial MT"/>
              <a:buChar char="•"/>
              <a:tabLst>
                <a:tab pos="467995" algn="l"/>
              </a:tabLst>
            </a:pP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main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reason</a:t>
            </a:r>
            <a:r>
              <a:rPr sz="15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5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this</a:t>
            </a:r>
            <a:r>
              <a:rPr sz="15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poor</a:t>
            </a:r>
            <a:r>
              <a:rPr sz="15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planning</a:t>
            </a: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.</a:t>
            </a:r>
            <a:endParaRPr sz="1500">
              <a:latin typeface="Verdana" panose="020B0604030504040204"/>
              <a:cs typeface="Verdana" panose="020B0604030504040204"/>
            </a:endParaRPr>
          </a:p>
          <a:p>
            <a:pPr marL="467995" lvl="1" indent="-181610">
              <a:lnSpc>
                <a:spcPts val="1710"/>
              </a:lnSpc>
              <a:spcBef>
                <a:spcPts val="320"/>
              </a:spcBef>
              <a:buClr>
                <a:srgbClr val="BBD0DF"/>
              </a:buClr>
              <a:buFont typeface="Arial MT"/>
              <a:buChar char="•"/>
              <a:tabLst>
                <a:tab pos="467995" algn="l"/>
              </a:tabLst>
            </a:pPr>
            <a:r>
              <a:rPr sz="15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These</a:t>
            </a:r>
            <a:r>
              <a:rPr sz="15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testers</a:t>
            </a:r>
            <a:r>
              <a:rPr sz="15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have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not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read</a:t>
            </a:r>
            <a:r>
              <a:rPr sz="15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documentation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misunderstand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usage</a:t>
            </a:r>
            <a:r>
              <a:rPr sz="15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5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power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5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5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security</a:t>
            </a:r>
            <a:r>
              <a:rPr sz="15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tools</a:t>
            </a:r>
            <a:r>
              <a:rPr sz="15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500" spc="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endParaRPr sz="1500">
              <a:latin typeface="Verdana" panose="020B0604030504040204"/>
              <a:cs typeface="Verdana" panose="020B0604030504040204"/>
            </a:endParaRPr>
          </a:p>
          <a:p>
            <a:pPr marL="469900">
              <a:lnSpc>
                <a:spcPts val="1710"/>
              </a:lnSpc>
            </a:pPr>
            <a:r>
              <a:rPr sz="15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techniques</a:t>
            </a:r>
            <a:endParaRPr sz="1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The</a:t>
            </a:r>
            <a:r>
              <a:rPr spc="-335" dirty="0"/>
              <a:t> </a:t>
            </a:r>
            <a:r>
              <a:rPr spc="-105" dirty="0"/>
              <a:t>Ethical</a:t>
            </a:r>
            <a:r>
              <a:rPr spc="-335" dirty="0"/>
              <a:t> </a:t>
            </a:r>
            <a:r>
              <a:rPr dirty="0"/>
              <a:t>Hacking</a:t>
            </a:r>
            <a:r>
              <a:rPr spc="-360" dirty="0"/>
              <a:t> </a:t>
            </a:r>
            <a:r>
              <a:rPr spc="-90" dirty="0"/>
              <a:t>Process</a:t>
            </a:r>
            <a:endParaRPr spc="-9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2277" y="1369631"/>
            <a:ext cx="11125200" cy="3929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Strategic</a:t>
            </a:r>
            <a:r>
              <a:rPr sz="2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4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tactical</a:t>
            </a:r>
            <a:r>
              <a:rPr sz="24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issues</a:t>
            </a:r>
            <a:r>
              <a:rPr sz="24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24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4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24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24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process</a:t>
            </a:r>
            <a:r>
              <a:rPr sz="24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should</a:t>
            </a:r>
            <a:r>
              <a:rPr sz="24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95580">
              <a:lnSpc>
                <a:spcPct val="100000"/>
              </a:lnSpc>
              <a:spcBef>
                <a:spcPts val="5"/>
              </a:spcBef>
            </a:pPr>
            <a:r>
              <a:rPr sz="2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determined</a:t>
            </a:r>
            <a:r>
              <a:rPr sz="24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400" spc="-1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agreed</a:t>
            </a:r>
            <a:r>
              <a:rPr sz="24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upon.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94310" indent="-181610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Planning</a:t>
            </a:r>
            <a:r>
              <a:rPr sz="2400" spc="-2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24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important</a:t>
            </a:r>
            <a:r>
              <a:rPr sz="24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24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any</a:t>
            </a:r>
            <a:r>
              <a:rPr sz="24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amount</a:t>
            </a:r>
            <a:r>
              <a:rPr sz="2400" spc="-1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4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testing</a:t>
            </a:r>
            <a:r>
              <a:rPr sz="2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24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24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4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simple</a:t>
            </a:r>
            <a:r>
              <a:rPr sz="2400" spc="-229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password-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9558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cracking</a:t>
            </a:r>
            <a:r>
              <a:rPr sz="2400" spc="-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</a:t>
            </a:r>
            <a:r>
              <a:rPr sz="24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24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all-</a:t>
            </a:r>
            <a:r>
              <a:rPr sz="2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out</a:t>
            </a:r>
            <a:r>
              <a:rPr sz="2400" spc="-2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penetration</a:t>
            </a:r>
            <a:r>
              <a:rPr sz="2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</a:t>
            </a:r>
            <a:r>
              <a:rPr sz="2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24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Web</a:t>
            </a:r>
            <a:r>
              <a:rPr sz="24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application.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94310" indent="-181610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310" algn="l"/>
              </a:tabLst>
            </a:pPr>
            <a:r>
              <a:rPr sz="24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4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Process</a:t>
            </a:r>
            <a:r>
              <a:rPr sz="24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includes: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468630" lvl="1" indent="-181610">
              <a:lnSpc>
                <a:spcPct val="100000"/>
              </a:lnSpc>
              <a:spcBef>
                <a:spcPts val="525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0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Formulating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plan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468630" lvl="1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0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Selecting</a:t>
            </a:r>
            <a:r>
              <a:rPr sz="20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tools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468630" lvl="1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0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Executing</a:t>
            </a:r>
            <a:r>
              <a:rPr sz="20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0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plan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468630" lvl="1" indent="-18161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0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Evaluating</a:t>
            </a:r>
            <a:r>
              <a:rPr sz="20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results</a:t>
            </a:r>
            <a:endParaRPr sz="2000">
              <a:latin typeface="Verdana" panose="020B0604030504040204"/>
              <a:cs typeface="Verdana" panose="020B0604030504040204"/>
            </a:endParaRPr>
          </a:p>
          <a:p>
            <a:pPr marL="468630" lvl="1" indent="-18161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68630" algn="l"/>
              </a:tabLst>
            </a:pPr>
            <a:r>
              <a:rPr sz="20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Moving</a:t>
            </a:r>
            <a:r>
              <a:rPr sz="20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8150" y="394652"/>
            <a:ext cx="64389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Formulating</a:t>
            </a:r>
            <a:r>
              <a:rPr spc="-350" dirty="0"/>
              <a:t> </a:t>
            </a:r>
            <a:r>
              <a:rPr spc="-215" dirty="0"/>
              <a:t>your</a:t>
            </a:r>
            <a:r>
              <a:rPr spc="-335" dirty="0"/>
              <a:t> </a:t>
            </a:r>
            <a:r>
              <a:rPr spc="30" dirty="0"/>
              <a:t>plan</a:t>
            </a:r>
            <a:endParaRPr spc="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0542" y="1093342"/>
            <a:ext cx="10932795" cy="43472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Approval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essential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89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Make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what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you’re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doing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6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known</a:t>
            </a:r>
            <a:r>
              <a:rPr sz="18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1800" b="1" spc="-1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4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visible</a:t>
            </a:r>
            <a:r>
              <a:rPr sz="1800" b="1" spc="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least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decision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makers.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Obtaining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sponsorship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project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first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step.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2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This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could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manager,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executive,</a:t>
            </a:r>
            <a:r>
              <a:rPr sz="1800" spc="-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customer,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even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yourself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if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you’re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boss.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need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someone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back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up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sign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off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plan.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marR="5080" indent="-182880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authorization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simple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8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internal</a:t>
            </a:r>
            <a:r>
              <a:rPr sz="1800" b="1" spc="-2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memo</a:t>
            </a:r>
            <a:r>
              <a:rPr sz="1800" b="1" spc="-2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boss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if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you’re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performing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these 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tests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own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marR="214630" indent="-182880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2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If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you’re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testing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customer,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have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2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signed</a:t>
            </a:r>
            <a:r>
              <a:rPr sz="1800" b="1" spc="-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contract</a:t>
            </a:r>
            <a:r>
              <a:rPr sz="1800" b="1" spc="-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place,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stating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customer’s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support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authorization.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Get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13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written</a:t>
            </a:r>
            <a:r>
              <a:rPr sz="1800" b="1" spc="-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approval</a:t>
            </a:r>
            <a:r>
              <a:rPr sz="1800" b="1" spc="1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on</a:t>
            </a:r>
            <a:r>
              <a:rPr sz="1800" b="1" spc="-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4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this</a:t>
            </a:r>
            <a:r>
              <a:rPr sz="1800" b="1" spc="-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7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sponsorship</a:t>
            </a:r>
            <a:r>
              <a:rPr sz="1800" b="1" spc="-10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soon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possible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ensure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none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time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>
              <a:lnSpc>
                <a:spcPct val="100000"/>
              </a:lnSpc>
            </a:pP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effort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wasted.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2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This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documentation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Get</a:t>
            </a:r>
            <a:r>
              <a:rPr sz="1800" b="1" spc="-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3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Out</a:t>
            </a:r>
            <a:r>
              <a:rPr sz="1800" b="1" spc="-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8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800" b="1" spc="-3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2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Jail</a:t>
            </a:r>
            <a:r>
              <a:rPr sz="1800" b="1" spc="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6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Free</a:t>
            </a:r>
            <a:r>
              <a:rPr sz="1800" b="1" spc="-2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card</a:t>
            </a:r>
            <a:r>
              <a:rPr sz="1800" b="1" spc="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if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anyone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questions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what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you’re</a:t>
            </a:r>
            <a:r>
              <a:rPr sz="18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doing.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5619" y="406197"/>
            <a:ext cx="10855960" cy="530923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66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well-</a:t>
            </a:r>
            <a:r>
              <a:rPr sz="18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defined</a:t>
            </a:r>
            <a:r>
              <a:rPr sz="1800" spc="-4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scope</a:t>
            </a:r>
            <a:r>
              <a:rPr sz="1800" spc="-7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includes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following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information: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Specific</a:t>
            </a:r>
            <a:r>
              <a:rPr sz="16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tested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Risks</a:t>
            </a:r>
            <a:r>
              <a:rPr sz="16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6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involved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When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tests</a:t>
            </a:r>
            <a:r>
              <a:rPr sz="16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6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performed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6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overall</a:t>
            </a:r>
            <a:r>
              <a:rPr sz="16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timeline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495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How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tests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performed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How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much</a:t>
            </a:r>
            <a:r>
              <a:rPr sz="16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knowledge</a:t>
            </a:r>
            <a:r>
              <a:rPr sz="16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6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6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6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have</a:t>
            </a:r>
            <a:r>
              <a:rPr sz="16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before</a:t>
            </a:r>
            <a:r>
              <a:rPr sz="16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6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start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testing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What</a:t>
            </a:r>
            <a:r>
              <a:rPr sz="16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done</a:t>
            </a:r>
            <a:r>
              <a:rPr sz="16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when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major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vulnerability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6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discovered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69265" marR="5080" lvl="1" indent="-18288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600" dirty="0">
                <a:solidFill>
                  <a:srgbClr val="BBD0DF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specific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deliverables</a:t>
            </a:r>
            <a:r>
              <a:rPr sz="16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—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this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includes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security-assessment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reports</a:t>
            </a:r>
            <a:r>
              <a:rPr sz="1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higher-</a:t>
            </a:r>
            <a:r>
              <a:rPr sz="16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level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report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outlining</a:t>
            </a:r>
            <a:r>
              <a:rPr sz="16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general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16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16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addressed,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along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countermeasures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should</a:t>
            </a:r>
            <a:r>
              <a:rPr sz="16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16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implemented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Points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Remember: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495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When</a:t>
            </a:r>
            <a:r>
              <a:rPr sz="1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selecting</a:t>
            </a:r>
            <a:r>
              <a:rPr sz="16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test,</a:t>
            </a:r>
            <a:r>
              <a:rPr sz="16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start</a:t>
            </a:r>
            <a:r>
              <a:rPr sz="1600" spc="-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16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8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most</a:t>
            </a:r>
            <a:r>
              <a:rPr sz="16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critical</a:t>
            </a:r>
            <a:r>
              <a:rPr sz="16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8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1600" spc="-9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vulnerable</a:t>
            </a:r>
            <a:r>
              <a:rPr sz="1600" spc="-15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.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0535" lvl="1" indent="-183515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Have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contingency</a:t>
            </a:r>
            <a:r>
              <a:rPr sz="1600" spc="-1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plan</a:t>
            </a:r>
            <a:r>
              <a:rPr sz="1600" spc="-8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6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6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process 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case</a:t>
            </a:r>
            <a:r>
              <a:rPr sz="16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something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goes</a:t>
            </a:r>
            <a:r>
              <a:rPr sz="16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awry.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Handle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social-</a:t>
            </a:r>
            <a:r>
              <a:rPr sz="1600" spc="-2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engineering</a:t>
            </a:r>
            <a:r>
              <a:rPr sz="1600" spc="-114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5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600" spc="-6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denial-</a:t>
            </a:r>
            <a:r>
              <a:rPr sz="1600" spc="-7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of-</a:t>
            </a:r>
            <a:r>
              <a:rPr sz="1600" spc="-4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service</a:t>
            </a:r>
            <a:r>
              <a:rPr sz="1600" spc="-114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attacks</a:t>
            </a:r>
            <a:r>
              <a:rPr sz="16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carefully.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Determining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when</a:t>
            </a:r>
            <a:r>
              <a:rPr sz="1600" spc="-1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6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tests</a:t>
            </a:r>
            <a:r>
              <a:rPr sz="1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16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performed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1170" lvl="1" indent="-18415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71170" algn="l"/>
              </a:tabLst>
            </a:pP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best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approach</a:t>
            </a:r>
            <a:r>
              <a:rPr sz="16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5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unlimited</a:t>
            </a:r>
            <a:r>
              <a:rPr sz="1600" spc="-15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attack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,</a:t>
            </a:r>
            <a:r>
              <a:rPr sz="16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wherein</a:t>
            </a:r>
            <a:r>
              <a:rPr sz="16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any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type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6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possible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525145" lvl="1" indent="-238125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525145" algn="l"/>
              </a:tabLst>
            </a:pPr>
            <a:r>
              <a:rPr sz="16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Don’t</a:t>
            </a:r>
            <a:r>
              <a:rPr sz="1600" spc="-114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stop</a:t>
            </a:r>
            <a:r>
              <a:rPr sz="1600" spc="-7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16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one</a:t>
            </a:r>
            <a:r>
              <a:rPr sz="1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security</a:t>
            </a:r>
            <a:r>
              <a:rPr sz="16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hole.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470535" lvl="1" indent="-183515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16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One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6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goals</a:t>
            </a:r>
            <a:r>
              <a:rPr sz="1600" spc="-1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may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</a:t>
            </a:r>
            <a:r>
              <a:rPr sz="16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6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perform</a:t>
            </a:r>
            <a:r>
              <a:rPr sz="16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6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tests</a:t>
            </a:r>
            <a:r>
              <a:rPr sz="16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without</a:t>
            </a:r>
            <a:r>
              <a:rPr sz="16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being</a:t>
            </a:r>
            <a:r>
              <a:rPr sz="16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detected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8971" y="409003"/>
            <a:ext cx="42799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Selecting</a:t>
            </a:r>
            <a:r>
              <a:rPr spc="-285" dirty="0"/>
              <a:t> </a:t>
            </a:r>
            <a:r>
              <a:rPr spc="-130" dirty="0"/>
              <a:t>tools</a:t>
            </a:r>
            <a:endParaRPr spc="-1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2925" y="1310957"/>
            <a:ext cx="10856595" cy="411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Many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security-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assessment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tools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generate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false</a:t>
            </a:r>
            <a:r>
              <a:rPr sz="1800" spc="-1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positives</a:t>
            </a:r>
            <a:r>
              <a:rPr sz="1800" spc="-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9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negatives</a:t>
            </a:r>
            <a:r>
              <a:rPr sz="1800" spc="-2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(incorrectly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identifying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vulnerabilities)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while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others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may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7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miss</a:t>
            </a:r>
            <a:r>
              <a:rPr sz="1800" spc="-12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Need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set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specific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tools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can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call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task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at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hand.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more</a:t>
            </a:r>
            <a:r>
              <a:rPr sz="18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tools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have,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easier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ethical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hacking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efforts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are.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Make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sure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you’re</a:t>
            </a:r>
            <a:r>
              <a:rPr sz="18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using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right</a:t>
            </a:r>
            <a:r>
              <a:rPr sz="18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8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task: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470535" lvl="1" indent="-184150">
              <a:lnSpc>
                <a:spcPct val="100000"/>
              </a:lnSpc>
              <a:spcBef>
                <a:spcPts val="505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16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crack</a:t>
            </a:r>
            <a:r>
              <a:rPr sz="16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passwords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743585" marR="5080" lvl="2" indent="-18288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3585" algn="l"/>
              </a:tabLst>
            </a:pPr>
            <a:r>
              <a:rPr sz="1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4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need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cracking</a:t>
            </a:r>
            <a:r>
              <a:rPr sz="1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</a:t>
            </a:r>
            <a:r>
              <a:rPr sz="14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such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4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LC4,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John</a:t>
            </a:r>
            <a:r>
              <a:rPr sz="14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4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Ripperpwdump.</a:t>
            </a:r>
            <a:r>
              <a:rPr sz="14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general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port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scanner,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such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4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SuperScan,</a:t>
            </a:r>
            <a:r>
              <a:rPr sz="14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may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not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crack</a:t>
            </a:r>
            <a:r>
              <a:rPr sz="1400" spc="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passwords.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470535" lvl="1" indent="-18415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469900" algn="l"/>
              </a:tabLst>
            </a:pPr>
            <a:r>
              <a:rPr sz="16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6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in-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depth</a:t>
            </a:r>
            <a:r>
              <a:rPr sz="16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analysis</a:t>
            </a:r>
            <a:r>
              <a:rPr sz="1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6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Web</a:t>
            </a:r>
            <a:r>
              <a:rPr sz="16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application: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743585" marR="55245" lvl="2" indent="-182880">
              <a:lnSpc>
                <a:spcPct val="100000"/>
              </a:lnSpc>
              <a:spcBef>
                <a:spcPts val="500"/>
              </a:spcBef>
              <a:buClr>
                <a:srgbClr val="BBD0DF"/>
              </a:buClr>
              <a:buFont typeface="Arial MT"/>
              <a:buChar char="•"/>
              <a:tabLst>
                <a:tab pos="743585" algn="l"/>
              </a:tabLst>
            </a:pPr>
            <a:r>
              <a:rPr sz="1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Web-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application</a:t>
            </a:r>
            <a:r>
              <a:rPr sz="1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assessment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</a:t>
            </a:r>
            <a:r>
              <a:rPr sz="14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(such 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4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Whisker</a:t>
            </a:r>
            <a:r>
              <a:rPr sz="14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WebInspect)</a:t>
            </a:r>
            <a:r>
              <a:rPr sz="14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more</a:t>
            </a:r>
            <a:r>
              <a:rPr sz="14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appropriate</a:t>
            </a:r>
            <a:r>
              <a:rPr sz="14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than</a:t>
            </a:r>
            <a:r>
              <a:rPr sz="14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4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network </a:t>
            </a:r>
            <a:r>
              <a:rPr sz="14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analyzer</a:t>
            </a:r>
            <a:r>
              <a:rPr sz="14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(such </a:t>
            </a:r>
            <a:r>
              <a:rPr sz="14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4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Ethereal).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When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selecting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right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security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18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task,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ask</a:t>
            </a:r>
            <a:r>
              <a:rPr sz="1800" spc="-1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around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Get</a:t>
            </a:r>
            <a:r>
              <a:rPr sz="1800" spc="-3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55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advice</a:t>
            </a:r>
            <a:r>
              <a:rPr sz="1800" spc="-50" dirty="0">
                <a:solidFill>
                  <a:srgbClr val="FFFF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 your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colleagues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from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other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people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online.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1967" y="505523"/>
            <a:ext cx="104997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following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list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runs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down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some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authors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favorite</a:t>
            </a:r>
            <a:r>
              <a:rPr sz="1800" spc="-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commercial,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freeware,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open-source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security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tools: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51379" y="1178560"/>
            <a:ext cx="4917440" cy="48412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572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Executing</a:t>
            </a:r>
            <a:r>
              <a:rPr spc="-380" dirty="0"/>
              <a:t> </a:t>
            </a:r>
            <a:r>
              <a:rPr spc="-50" dirty="0"/>
              <a:t>the</a:t>
            </a:r>
            <a:r>
              <a:rPr spc="-365" dirty="0"/>
              <a:t> </a:t>
            </a:r>
            <a:r>
              <a:rPr spc="30" dirty="0"/>
              <a:t>plan</a:t>
            </a:r>
            <a:endParaRPr spc="3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8639" y="1706879"/>
            <a:ext cx="7802879" cy="3860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5928" y="477202"/>
            <a:ext cx="50469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Evaluating</a:t>
            </a:r>
            <a:r>
              <a:rPr spc="-330" dirty="0"/>
              <a:t> </a:t>
            </a:r>
            <a:r>
              <a:rPr spc="-370" dirty="0"/>
              <a:t>results</a:t>
            </a:r>
            <a:endParaRPr spc="-37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9272" y="1461770"/>
            <a:ext cx="11095355" cy="2792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88645" indent="-182880">
              <a:lnSpc>
                <a:spcPct val="100000"/>
              </a:lnSpc>
              <a:spcBef>
                <a:spcPts val="100"/>
              </a:spcBef>
              <a:buClr>
                <a:srgbClr val="BBD0DF"/>
              </a:buClr>
              <a:buFont typeface="Arial MT"/>
              <a:buChar char="•"/>
              <a:tabLst>
                <a:tab pos="195580" algn="l"/>
              </a:tabLst>
            </a:pP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Assess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results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see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what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18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uncovered,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assuming</a:t>
            </a:r>
            <a:r>
              <a:rPr sz="18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haven’t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been </a:t>
            </a:r>
            <a:r>
              <a:rPr sz="1800" spc="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made</a:t>
            </a:r>
            <a:r>
              <a:rPr sz="18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obvious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before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now.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2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This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where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knowledge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counts.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5580" marR="5080" indent="-182880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5580" algn="l"/>
              </a:tabLst>
            </a:pP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Evaluating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results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correlating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specific</a:t>
            </a:r>
            <a:r>
              <a:rPr sz="1800" spc="-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vulnerabilities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discovered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is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skill</a:t>
            </a:r>
            <a:r>
              <a:rPr sz="1800" spc="-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gets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better 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experience.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You’ll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end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up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knowing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systems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well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1800" spc="-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anyone</a:t>
            </a:r>
            <a:r>
              <a:rPr sz="1800" spc="-114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else.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21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This</a:t>
            </a:r>
            <a:r>
              <a:rPr sz="18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makes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evaluation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process</a:t>
            </a:r>
            <a:r>
              <a:rPr sz="1800" spc="-9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much</a:t>
            </a:r>
            <a:r>
              <a:rPr sz="1800" spc="-1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simpler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moving</a:t>
            </a:r>
            <a:r>
              <a:rPr sz="1800" spc="-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forward.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Submit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1800" spc="-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7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formal</a:t>
            </a:r>
            <a:r>
              <a:rPr sz="1800" b="1" spc="-25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8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report</a:t>
            </a:r>
            <a:r>
              <a:rPr sz="1800" b="1" spc="-30" dirty="0">
                <a:solidFill>
                  <a:srgbClr val="FFFF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upper</a:t>
            </a:r>
            <a:r>
              <a:rPr sz="1800" spc="-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management</a:t>
            </a:r>
            <a:r>
              <a:rPr sz="18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18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1800" spc="-7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customer,</a:t>
            </a:r>
            <a:r>
              <a:rPr sz="18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outlining</a:t>
            </a:r>
            <a:r>
              <a:rPr sz="1800" spc="-10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your</a:t>
            </a:r>
            <a:r>
              <a:rPr sz="1800" spc="-1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results.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6109" y="504507"/>
            <a:ext cx="31661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Moving</a:t>
            </a:r>
            <a:r>
              <a:rPr spc="-215" dirty="0"/>
              <a:t> </a:t>
            </a:r>
            <a:r>
              <a:rPr spc="30" dirty="0"/>
              <a:t>on</a:t>
            </a:r>
            <a:endParaRPr spc="3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2880">
              <a:lnSpc>
                <a:spcPct val="100000"/>
              </a:lnSpc>
              <a:spcBef>
                <a:spcPts val="100"/>
              </a:spcBef>
              <a:buClr>
                <a:srgbClr val="BBD0DF"/>
              </a:buClr>
              <a:buFont typeface="Arial MT"/>
              <a:buChar char="•"/>
              <a:tabLst>
                <a:tab pos="195580" algn="l"/>
              </a:tabLst>
            </a:pPr>
            <a:r>
              <a:rPr spc="-20" dirty="0"/>
              <a:t>When</a:t>
            </a:r>
            <a:r>
              <a:rPr spc="-70" dirty="0"/>
              <a:t> </a:t>
            </a:r>
            <a:r>
              <a:rPr dirty="0"/>
              <a:t>you’ve</a:t>
            </a:r>
            <a:r>
              <a:rPr spc="-120" dirty="0"/>
              <a:t> </a:t>
            </a:r>
            <a:r>
              <a:rPr spc="-65" dirty="0"/>
              <a:t>finished</a:t>
            </a:r>
            <a:r>
              <a:rPr spc="-85" dirty="0"/>
              <a:t> </a:t>
            </a:r>
            <a:r>
              <a:rPr spc="-75" dirty="0"/>
              <a:t>your</a:t>
            </a:r>
            <a:r>
              <a:rPr spc="-150" dirty="0"/>
              <a:t> </a:t>
            </a:r>
            <a:r>
              <a:rPr dirty="0"/>
              <a:t>ethical</a:t>
            </a:r>
            <a:r>
              <a:rPr spc="-50" dirty="0"/>
              <a:t> </a:t>
            </a:r>
            <a:r>
              <a:rPr dirty="0"/>
              <a:t>hacking</a:t>
            </a:r>
            <a:r>
              <a:rPr spc="-100" dirty="0"/>
              <a:t> </a:t>
            </a:r>
            <a:r>
              <a:rPr spc="-145" dirty="0"/>
              <a:t>tests,</a:t>
            </a:r>
            <a:r>
              <a:rPr spc="-25" dirty="0"/>
              <a:t> </a:t>
            </a:r>
            <a:r>
              <a:rPr spc="-20" dirty="0"/>
              <a:t>you</a:t>
            </a:r>
            <a:r>
              <a:rPr spc="-125" dirty="0"/>
              <a:t> </a:t>
            </a:r>
            <a:r>
              <a:rPr spc="-165" dirty="0"/>
              <a:t>still</a:t>
            </a:r>
            <a:r>
              <a:rPr spc="-95" dirty="0"/>
              <a:t> </a:t>
            </a:r>
            <a:r>
              <a:rPr spc="50" dirty="0"/>
              <a:t>need</a:t>
            </a:r>
            <a:r>
              <a:rPr spc="-60" dirty="0"/>
              <a:t> </a:t>
            </a:r>
            <a:r>
              <a:rPr spc="-20" dirty="0"/>
              <a:t>to</a:t>
            </a:r>
            <a:r>
              <a:rPr spc="-90" dirty="0"/>
              <a:t> </a:t>
            </a:r>
            <a:r>
              <a:rPr spc="-35" dirty="0"/>
              <a:t>implement</a:t>
            </a:r>
            <a:r>
              <a:rPr spc="-160" dirty="0"/>
              <a:t> </a:t>
            </a:r>
            <a:r>
              <a:rPr spc="-75" dirty="0"/>
              <a:t>your</a:t>
            </a:r>
            <a:r>
              <a:rPr spc="-130" dirty="0"/>
              <a:t> </a:t>
            </a:r>
            <a:r>
              <a:rPr spc="-85" dirty="0"/>
              <a:t>analysis</a:t>
            </a:r>
            <a:r>
              <a:rPr spc="-130" dirty="0"/>
              <a:t> </a:t>
            </a:r>
            <a:r>
              <a:rPr spc="40" dirty="0"/>
              <a:t>and </a:t>
            </a:r>
            <a:r>
              <a:rPr spc="-10" dirty="0"/>
              <a:t>recommendations</a:t>
            </a:r>
            <a:r>
              <a:rPr spc="-125" dirty="0"/>
              <a:t> </a:t>
            </a:r>
            <a:r>
              <a:rPr spc="-20" dirty="0"/>
              <a:t>to</a:t>
            </a:r>
            <a:r>
              <a:rPr spc="-105" dirty="0"/>
              <a:t> </a:t>
            </a:r>
            <a:r>
              <a:rPr dirty="0"/>
              <a:t>make</a:t>
            </a:r>
            <a:r>
              <a:rPr spc="-160" dirty="0"/>
              <a:t> </a:t>
            </a:r>
            <a:r>
              <a:rPr spc="-105" dirty="0"/>
              <a:t>sure</a:t>
            </a:r>
            <a:r>
              <a:rPr spc="-114" dirty="0"/>
              <a:t> </a:t>
            </a:r>
            <a:r>
              <a:rPr spc="-75" dirty="0"/>
              <a:t>your</a:t>
            </a:r>
            <a:r>
              <a:rPr spc="-145" dirty="0"/>
              <a:t> </a:t>
            </a:r>
            <a:r>
              <a:rPr spc="-135" dirty="0"/>
              <a:t>systems</a:t>
            </a:r>
            <a:r>
              <a:rPr spc="-125" dirty="0"/>
              <a:t> </a:t>
            </a:r>
            <a:r>
              <a:rPr dirty="0"/>
              <a:t>are</a:t>
            </a:r>
            <a:r>
              <a:rPr spc="-114" dirty="0"/>
              <a:t> </a:t>
            </a:r>
            <a:r>
              <a:rPr spc="-10" dirty="0"/>
              <a:t>secure.</a:t>
            </a:r>
            <a:endParaRPr spc="-10" dirty="0"/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dirty="0"/>
              <a:t>New</a:t>
            </a:r>
            <a:r>
              <a:rPr spc="-65" dirty="0"/>
              <a:t> </a:t>
            </a:r>
            <a:r>
              <a:rPr spc="-80" dirty="0"/>
              <a:t>security</a:t>
            </a:r>
            <a:r>
              <a:rPr spc="-60" dirty="0"/>
              <a:t> </a:t>
            </a:r>
            <a:r>
              <a:rPr spc="-75" dirty="0"/>
              <a:t>vulnerabilities</a:t>
            </a:r>
            <a:r>
              <a:rPr spc="-50" dirty="0"/>
              <a:t> </a:t>
            </a:r>
            <a:r>
              <a:rPr spc="-35" dirty="0"/>
              <a:t>continually</a:t>
            </a:r>
            <a:r>
              <a:rPr spc="-80" dirty="0"/>
              <a:t> </a:t>
            </a:r>
            <a:r>
              <a:rPr dirty="0"/>
              <a:t>appear.</a:t>
            </a:r>
            <a:r>
              <a:rPr spc="-75" dirty="0"/>
              <a:t> Information</a:t>
            </a:r>
            <a:r>
              <a:rPr spc="-110" dirty="0"/>
              <a:t> </a:t>
            </a:r>
            <a:r>
              <a:rPr spc="-135" dirty="0"/>
              <a:t>systems</a:t>
            </a:r>
            <a:r>
              <a:rPr spc="-65" dirty="0"/>
              <a:t> </a:t>
            </a:r>
            <a:r>
              <a:rPr spc="-40" dirty="0"/>
              <a:t>constantly</a:t>
            </a:r>
            <a:r>
              <a:rPr spc="-55" dirty="0"/>
              <a:t> </a:t>
            </a:r>
            <a:r>
              <a:rPr spc="70" dirty="0"/>
              <a:t>change</a:t>
            </a:r>
            <a:r>
              <a:rPr spc="-85" dirty="0"/>
              <a:t> </a:t>
            </a:r>
            <a:r>
              <a:rPr spc="35" dirty="0"/>
              <a:t>and</a:t>
            </a:r>
            <a:endParaRPr spc="35" dirty="0"/>
          </a:p>
          <a:p>
            <a:pPr marL="195580">
              <a:lnSpc>
                <a:spcPct val="100000"/>
              </a:lnSpc>
            </a:pPr>
            <a:r>
              <a:rPr spc="80" dirty="0"/>
              <a:t>become</a:t>
            </a:r>
            <a:r>
              <a:rPr spc="-125" dirty="0"/>
              <a:t> </a:t>
            </a:r>
            <a:r>
              <a:rPr spc="-30" dirty="0"/>
              <a:t>more</a:t>
            </a:r>
            <a:r>
              <a:rPr spc="-145" dirty="0"/>
              <a:t> </a:t>
            </a:r>
            <a:r>
              <a:rPr spc="-10" dirty="0"/>
              <a:t>complex.</a:t>
            </a:r>
            <a:endParaRPr spc="-10" dirty="0"/>
          </a:p>
          <a:p>
            <a:pPr marL="194945" indent="-182245">
              <a:lnSpc>
                <a:spcPct val="100000"/>
              </a:lnSpc>
              <a:spcBef>
                <a:spcPts val="900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dirty="0"/>
              <a:t>New</a:t>
            </a:r>
            <a:r>
              <a:rPr spc="-80" dirty="0"/>
              <a:t> </a:t>
            </a:r>
            <a:r>
              <a:rPr dirty="0"/>
              <a:t>hacker</a:t>
            </a:r>
            <a:r>
              <a:rPr spc="-90" dirty="0"/>
              <a:t> </a:t>
            </a:r>
            <a:r>
              <a:rPr spc="-80" dirty="0"/>
              <a:t>exploits </a:t>
            </a:r>
            <a:r>
              <a:rPr spc="65" dirty="0"/>
              <a:t>and</a:t>
            </a:r>
            <a:r>
              <a:rPr spc="-80" dirty="0"/>
              <a:t> </a:t>
            </a:r>
            <a:r>
              <a:rPr spc="-75" dirty="0"/>
              <a:t>security</a:t>
            </a:r>
            <a:r>
              <a:rPr spc="-70" dirty="0"/>
              <a:t> </a:t>
            </a:r>
            <a:r>
              <a:rPr spc="-75" dirty="0"/>
              <a:t>vulnerabilities</a:t>
            </a:r>
            <a:r>
              <a:rPr spc="-60" dirty="0"/>
              <a:t> </a:t>
            </a:r>
            <a:r>
              <a:rPr dirty="0"/>
              <a:t>are</a:t>
            </a:r>
            <a:r>
              <a:rPr spc="-100" dirty="0"/>
              <a:t> </a:t>
            </a:r>
            <a:r>
              <a:rPr spc="-70" dirty="0"/>
              <a:t>regularly</a:t>
            </a:r>
            <a:r>
              <a:rPr spc="-130" dirty="0"/>
              <a:t> </a:t>
            </a:r>
            <a:r>
              <a:rPr spc="-10" dirty="0"/>
              <a:t>uncovered.</a:t>
            </a:r>
            <a:endParaRPr spc="-10" dirty="0"/>
          </a:p>
          <a:p>
            <a:pPr marL="194945" indent="-182245">
              <a:lnSpc>
                <a:spcPct val="100000"/>
              </a:lnSpc>
              <a:spcBef>
                <a:spcPts val="905"/>
              </a:spcBef>
              <a:buClr>
                <a:srgbClr val="BBD0DF"/>
              </a:buClr>
              <a:buFont typeface="Arial MT"/>
              <a:buChar char="•"/>
              <a:tabLst>
                <a:tab pos="194945" algn="l"/>
              </a:tabLst>
            </a:pPr>
            <a:r>
              <a:rPr spc="-20" dirty="0"/>
              <a:t>Plan</a:t>
            </a:r>
            <a:r>
              <a:rPr spc="-125" dirty="0"/>
              <a:t> </a:t>
            </a:r>
            <a:r>
              <a:rPr spc="-20" dirty="0"/>
              <a:t>to</a:t>
            </a:r>
            <a:r>
              <a:rPr spc="-110" dirty="0"/>
              <a:t> test</a:t>
            </a:r>
            <a:r>
              <a:rPr spc="-65" dirty="0"/>
              <a:t> </a:t>
            </a:r>
            <a:r>
              <a:rPr spc="-10" dirty="0"/>
              <a:t>regularly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1533885" y="6259195"/>
            <a:ext cx="1676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19</a:t>
            </a:r>
            <a:endParaRPr sz="1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03925" y="3286371"/>
            <a:ext cx="186690" cy="2806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00" spc="15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54760" y="1214119"/>
            <a:ext cx="9682480" cy="4414520"/>
            <a:chOff x="1254760" y="1214119"/>
            <a:chExt cx="9682480" cy="44145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4760" y="1214119"/>
              <a:ext cx="9682480" cy="4414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5560" y="1264919"/>
              <a:ext cx="9580880" cy="43129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49070" y="1413509"/>
              <a:ext cx="9296400" cy="4033520"/>
            </a:xfrm>
            <a:custGeom>
              <a:avLst/>
              <a:gdLst/>
              <a:ahLst/>
              <a:cxnLst/>
              <a:rect l="l" t="t" r="r" b="b"/>
              <a:pathLst>
                <a:path w="9296400" h="4033520">
                  <a:moveTo>
                    <a:pt x="0" y="4033520"/>
                  </a:moveTo>
                  <a:lnTo>
                    <a:pt x="9296400" y="4033520"/>
                  </a:lnTo>
                  <a:lnTo>
                    <a:pt x="9296400" y="0"/>
                  </a:lnTo>
                  <a:lnTo>
                    <a:pt x="0" y="0"/>
                  </a:lnTo>
                  <a:lnTo>
                    <a:pt x="0" y="4033520"/>
                  </a:lnTo>
                  <a:close/>
                </a:path>
              </a:pathLst>
            </a:custGeom>
            <a:ln w="7620">
              <a:solidFill>
                <a:srgbClr val="BBD0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35880" y="1267459"/>
              <a:ext cx="1920239" cy="731520"/>
            </a:xfrm>
            <a:custGeom>
              <a:avLst/>
              <a:gdLst/>
              <a:ahLst/>
              <a:cxnLst/>
              <a:rect l="l" t="t" r="r" b="b"/>
              <a:pathLst>
                <a:path w="1920240" h="731519">
                  <a:moveTo>
                    <a:pt x="1920239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1920239" y="73152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51450" y="1268729"/>
              <a:ext cx="1691639" cy="645160"/>
            </a:xfrm>
            <a:custGeom>
              <a:avLst/>
              <a:gdLst/>
              <a:ahLst/>
              <a:cxnLst/>
              <a:rect l="l" t="t" r="r" b="b"/>
              <a:pathLst>
                <a:path w="1691640" h="645160">
                  <a:moveTo>
                    <a:pt x="0" y="0"/>
                  </a:moveTo>
                  <a:lnTo>
                    <a:pt x="0" y="640080"/>
                  </a:lnTo>
                </a:path>
                <a:path w="1691640" h="645160">
                  <a:moveTo>
                    <a:pt x="1691640" y="0"/>
                  </a:moveTo>
                  <a:lnTo>
                    <a:pt x="1691640" y="640080"/>
                  </a:lnTo>
                </a:path>
                <a:path w="1691640" h="645160">
                  <a:moveTo>
                    <a:pt x="0" y="645160"/>
                  </a:moveTo>
                  <a:lnTo>
                    <a:pt x="1691640" y="645160"/>
                  </a:lnTo>
                </a:path>
              </a:pathLst>
            </a:custGeom>
            <a:ln w="7620">
              <a:solidFill>
                <a:srgbClr val="D3EA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330953" y="2715577"/>
            <a:ext cx="35521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950" dirty="0"/>
              <a:t>THE</a:t>
            </a:r>
            <a:r>
              <a:rPr sz="7200" spc="-755" dirty="0"/>
              <a:t> </a:t>
            </a:r>
            <a:r>
              <a:rPr sz="7200" spc="-450" dirty="0"/>
              <a:t>END</a:t>
            </a:r>
            <a:endParaRPr sz="7200"/>
          </a:p>
        </p:txBody>
      </p:sp>
      <p:sp>
        <p:nvSpPr>
          <p:cNvPr id="12" name="object 12"/>
          <p:cNvSpPr txBox="1"/>
          <p:nvPr/>
        </p:nvSpPr>
        <p:spPr>
          <a:xfrm>
            <a:off x="10471150" y="5228907"/>
            <a:ext cx="1676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BBD0DF"/>
                </a:solidFill>
                <a:latin typeface="Verdana" panose="020B0604030504040204"/>
                <a:cs typeface="Verdana" panose="020B0604030504040204"/>
              </a:rPr>
              <a:t>20</a:t>
            </a:r>
            <a:endParaRPr sz="1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10680</Words>
  <Application>WPS Presentation</Application>
  <PresentationFormat>On-screen Show (4:3)</PresentationFormat>
  <Paragraphs>224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Verdana</vt:lpstr>
      <vt:lpstr>Arial MT</vt:lpstr>
      <vt:lpstr>Tahoma</vt:lpstr>
      <vt:lpstr>Microsoft YaHei</vt:lpstr>
      <vt:lpstr>Arial Unicode MS</vt:lpstr>
      <vt:lpstr>Calibri</vt:lpstr>
      <vt:lpstr>Office Theme</vt:lpstr>
      <vt:lpstr>INTRODUCTION</vt:lpstr>
      <vt:lpstr>Overview</vt:lpstr>
      <vt:lpstr>Defining hacker</vt:lpstr>
      <vt:lpstr>Understanding the Need to Hack Your Own Systems</vt:lpstr>
      <vt:lpstr>PowerPoint 演示文稿</vt:lpstr>
      <vt:lpstr>Understanding the Dangers Your Systems Face</vt:lpstr>
      <vt:lpstr>PowerPoint 演示文稿</vt:lpstr>
      <vt:lpstr>PowerPoint 演示文稿</vt:lpstr>
      <vt:lpstr>PowerPoint 演示文稿</vt:lpstr>
      <vt:lpstr>Obeying the Ethical Hacking Commandments</vt:lpstr>
      <vt:lpstr>The Ethical Hacking Process</vt:lpstr>
      <vt:lpstr>Formulating your plan</vt:lpstr>
      <vt:lpstr>PowerPoint 演示文稿</vt:lpstr>
      <vt:lpstr>Selecting tools</vt:lpstr>
      <vt:lpstr>PowerPoint 演示文稿</vt:lpstr>
      <vt:lpstr>Executing the plan</vt:lpstr>
      <vt:lpstr>Evaluating results</vt:lpstr>
      <vt:lpstr>Moving on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Ravina</dc:creator>
  <cp:lastModifiedBy>Anthony Rodrigues</cp:lastModifiedBy>
  <cp:revision>5</cp:revision>
  <dcterms:created xsi:type="dcterms:W3CDTF">2024-03-20T02:21:00Z</dcterms:created>
  <dcterms:modified xsi:type="dcterms:W3CDTF">2024-03-20T02:45:29Z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2022-05-23T11:00:00Z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2024-03-20T11:00:00Z</vt:filetime>
  </property>
  <property fmtid="{D5CDD505-2E9C-101B-9397-08002B2CF9AE}" pid="5" name="Producer">
    <vt:lpwstr>Microsoft® PowerPoint® 2013</vt:lpwstr>
  </property>
  <property fmtid="{D5CDD505-2E9C-101B-9397-08002B2CF9AE}" pid="6" name="ICV">
    <vt:lpwstr>934748B920B546FEBE18223CDEFA92DB</vt:lpwstr>
  </property>
  <property fmtid="{D5CDD505-2E9C-101B-9397-08002B2CF9AE}" pid="7" name="KSOProductBuildVer">
    <vt:lpwstr>1033-11.2.0.11225</vt:lpwstr>
  </property>
</Properties>
</file>